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869680" y="0"/>
            <a:ext cx="3322015" cy="6858000"/>
          </a:xfrm>
          <a:prstGeom prst="rect">
            <a:avLst/>
          </a:prstGeom>
          <a:solidFill>
            <a:srgbClr val="1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869680" y="0"/>
            <a:ext cx="54864" cy="6858000"/>
          </a:xfrm>
          <a:prstGeom prst="rect">
            <a:avLst/>
          </a:prstGeom>
          <a:solidFill>
            <a:srgbClr val="1F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0" y="640080"/>
            <a:ext cx="2651760" cy="5577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E0912F"/>
                </a:solidFill>
                <a:latin typeface="Segoe UI Semibold"/>
              </a:rPr>
              <a:t>18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9C7D2"/>
                </a:solidFill>
                <a:latin typeface="Segoe UI"/>
              </a:rPr>
              <a:t>DB TABLES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Segoe UI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E0912F"/>
                </a:solidFill>
                <a:latin typeface="Segoe UI Semibold"/>
              </a:rPr>
              <a:t>13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9C7D2"/>
                </a:solidFill>
                <a:latin typeface="Segoe UI"/>
              </a:rPr>
              <a:t>WORKFLOW STATES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Segoe UI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E0912F"/>
                </a:solidFill>
                <a:latin typeface="Segoe UI Semibold"/>
              </a:rPr>
              <a:t>6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9C7D2"/>
                </a:solidFill>
                <a:latin typeface="Segoe UI"/>
              </a:rPr>
              <a:t>SAP TOUCHPOINTS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Segoe UI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E0912F"/>
                </a:solidFill>
                <a:latin typeface="Segoe UI Semibold"/>
              </a:rPr>
              <a:t>12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9C7D2"/>
                </a:solidFill>
                <a:latin typeface="Segoe UI"/>
              </a:rPr>
              <a:t>RBAC ROLES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71600"/>
            <a:ext cx="7680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0912F"/>
                </a:solidFill>
                <a:latin typeface="Segoe UI"/>
              </a:rPr>
              <a:t>ORIENT PAPER &amp; MILL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74519"/>
            <a:ext cx="78638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400" b="1">
                <a:solidFill>
                  <a:srgbClr val="FFFFFF"/>
                </a:solidFill>
                <a:latin typeface="Segoe UI Semibold"/>
              </a:rPr>
              <a:t>Customer Complaint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400" b="1">
                <a:solidFill>
                  <a:srgbClr val="FFFFFF"/>
                </a:solidFill>
                <a:latin typeface="Segoe UI Semibold"/>
              </a:rPr>
              <a:t>Management 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794760"/>
            <a:ext cx="7589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C7D3DC"/>
                </a:solidFill>
                <a:latin typeface="Segoe UI"/>
              </a:rPr>
              <a:t>An end-to-end complaint lifecycle platform with SAP S/4HANA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C7D3DC"/>
                </a:solidFill>
                <a:latin typeface="Segoe UI"/>
              </a:rPr>
              <a:t>integration, role-based workflow, and an immutable audit trail.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5074920"/>
            <a:ext cx="3108960" cy="18288"/>
          </a:xfrm>
          <a:prstGeom prst="rect">
            <a:avLst/>
          </a:prstGeom>
          <a:solidFill>
            <a:srgbClr val="3A5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30352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B9C7D2"/>
                </a:solidFill>
                <a:latin typeface="Segoe UI"/>
              </a:rPr>
              <a:t>Built by  </a:t>
            </a:r>
            <a:r>
              <a:rPr sz="1600" b="1">
                <a:solidFill>
                  <a:srgbClr val="FFFFFF"/>
                </a:solidFill>
                <a:latin typeface="Segoe UI"/>
              </a:rPr>
              <a:t>Keshav Raj Jain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B78"/>
                </a:solidFill>
                <a:latin typeface="Segoe UI"/>
              </a:rPr>
              <a:t>Project Presentation  ·  Express API + PostgreSQL + Vanilla-JS SPA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945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0912F"/>
                </a:solidFill>
                <a:latin typeface="Segoe UI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11155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 Semibold"/>
              </a:rPr>
              <a:t>What we'll cover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B9C7D2"/>
                </a:solidFill>
                <a:latin typeface="Segoe UI"/>
              </a:rPr>
              <a:t>Customer Complaint Management System  ·  Orient Paper &amp; Mill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280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E0912F"/>
                </a:solidFill>
                <a:latin typeface="Segoe UI"/>
              </a:rPr>
              <a:t>01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81328"/>
            <a:ext cx="54864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481328"/>
            <a:ext cx="822960" cy="658368"/>
          </a:xfrm>
          <a:prstGeom prst="round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1481328"/>
            <a:ext cx="411480" cy="658368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481328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E0912F"/>
                </a:solidFill>
                <a:latin typeface="Segoe UI Semibold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1563624"/>
            <a:ext cx="4389120" cy="512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12A40"/>
                </a:solidFill>
                <a:latin typeface="Segoe UI Semibold"/>
              </a:rPr>
              <a:t>The Problem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A6B78"/>
                </a:solidFill>
                <a:latin typeface="Segoe UI"/>
              </a:rPr>
              <a:t>Why complaint handling needed a system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481328"/>
            <a:ext cx="54864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72200" y="1481328"/>
            <a:ext cx="822960" cy="658368"/>
          </a:xfrm>
          <a:prstGeom prst="round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0" y="1481328"/>
            <a:ext cx="411480" cy="658368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1481328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E0912F"/>
                </a:solidFill>
                <a:latin typeface="Segoe UI Semibold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1563624"/>
            <a:ext cx="4389120" cy="512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12A40"/>
                </a:solidFill>
                <a:latin typeface="Segoe UI Semibold"/>
              </a:rPr>
              <a:t>Solution &amp; Architecture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A6B78"/>
                </a:solidFill>
                <a:latin typeface="Segoe UI"/>
              </a:rPr>
              <a:t>How CCMS is structured end-to-end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258568"/>
            <a:ext cx="54864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920" y="2258568"/>
            <a:ext cx="822960" cy="658368"/>
          </a:xfrm>
          <a:prstGeom prst="round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2258568"/>
            <a:ext cx="411480" cy="658368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2258568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E0912F"/>
                </a:solidFill>
                <a:latin typeface="Segoe UI Semibold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2340864"/>
            <a:ext cx="4389120" cy="512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12A40"/>
                </a:solidFill>
                <a:latin typeface="Segoe UI Semibold"/>
              </a:rPr>
              <a:t>Data Model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A6B78"/>
                </a:solidFill>
                <a:latin typeface="Segoe UI"/>
              </a:rPr>
              <a:t>18 tables · 9 master + 7 transactional entities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258568"/>
            <a:ext cx="54864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172200" y="2258568"/>
            <a:ext cx="822960" cy="658368"/>
          </a:xfrm>
          <a:prstGeom prst="round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83680" y="2258568"/>
            <a:ext cx="411480" cy="658368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2258568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E0912F"/>
                </a:solidFill>
                <a:latin typeface="Segoe UI Semibold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2340864"/>
            <a:ext cx="4389120" cy="512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12A40"/>
                </a:solidFill>
                <a:latin typeface="Segoe UI Semibold"/>
              </a:rPr>
              <a:t>Workflow Engine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A6B78"/>
                </a:solidFill>
                <a:latin typeface="Segoe UI"/>
              </a:rPr>
              <a:t>The 8-stage lifecycle and its gates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3035808"/>
            <a:ext cx="54864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02920" y="3035808"/>
            <a:ext cx="822960" cy="658368"/>
          </a:xfrm>
          <a:prstGeom prst="round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14400" y="3035808"/>
            <a:ext cx="411480" cy="658368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3035808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E0912F"/>
                </a:solidFill>
                <a:latin typeface="Segoe UI Semibold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3118104"/>
            <a:ext cx="4389120" cy="512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12A40"/>
                </a:solidFill>
                <a:latin typeface="Segoe UI Semibold"/>
              </a:rPr>
              <a:t>SAP S/4HANA Integration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A6B78"/>
                </a:solidFill>
                <a:latin typeface="Segoe UI"/>
              </a:rPr>
              <a:t>6 real-time &amp; batch touchpoints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3035808"/>
            <a:ext cx="54864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172200" y="3035808"/>
            <a:ext cx="822960" cy="658368"/>
          </a:xfrm>
          <a:prstGeom prst="round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83680" y="3035808"/>
            <a:ext cx="411480" cy="658368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72200" y="3035808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E0912F"/>
                </a:solidFill>
                <a:latin typeface="Segoe UI Semibold"/>
              </a:rPr>
              <a:t>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32320" y="3118104"/>
            <a:ext cx="4389120" cy="512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12A40"/>
                </a:solidFill>
                <a:latin typeface="Segoe UI Semibold"/>
              </a:rPr>
              <a:t>Security &amp; Access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A6B78"/>
                </a:solidFill>
                <a:latin typeface="Segoe UI"/>
              </a:rPr>
              <a:t>RBAC, JWT, and the audit trail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337560" y="3813048"/>
            <a:ext cx="54864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337560" y="3813048"/>
            <a:ext cx="822960" cy="658368"/>
          </a:xfrm>
          <a:prstGeom prst="round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749040" y="3813048"/>
            <a:ext cx="411480" cy="658368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337560" y="3813048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E0912F"/>
                </a:solidFill>
                <a:latin typeface="Segoe UI Semibold"/>
              </a:rPr>
              <a:t>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97680" y="3895344"/>
            <a:ext cx="4389120" cy="512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12A40"/>
                </a:solidFill>
                <a:latin typeface="Segoe UI Semibold"/>
              </a:rPr>
              <a:t>Verification &amp; Demo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A6B78"/>
                </a:solidFill>
                <a:latin typeface="Segoe UI"/>
              </a:rPr>
              <a:t>Testing evidence and live walkthrough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945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0912F"/>
                </a:solidFill>
                <a:latin typeface="Segoe UI"/>
              </a:rPr>
              <a:t>01 ·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11155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 Semibold"/>
              </a:rPr>
              <a:t>The problem we set out to solve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B9C7D2"/>
                </a:solidFill>
                <a:latin typeface="Segoe UI"/>
              </a:rPr>
              <a:t>Customer Complaint Management System  ·  Orient Paper &amp; Mill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280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E0912F"/>
                </a:solidFill>
                <a:latin typeface="Segoe U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417320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1A2530"/>
                </a:solidFill>
                <a:latin typeface="Segoe UI"/>
              </a:rPr>
              <a:t>A paper &amp; chemical manufacturer receives complaints across many products, customers and departments — and every one carries a financial settlement that must be governed.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331720"/>
            <a:ext cx="5504688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478024"/>
            <a:ext cx="73152" cy="1307592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2514600"/>
            <a:ext cx="5047488" cy="1271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12A40"/>
                </a:solidFill>
                <a:latin typeface="Segoe UI Semibold"/>
              </a:rPr>
              <a:t>Manual &amp; fragmented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B78"/>
                </a:solidFill>
                <a:latin typeface="Segoe UI"/>
              </a:rPr>
              <a:t>Complaints tracked on email and spreadsheets — no single source of truth, no status visibility.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0488" y="2331720"/>
            <a:ext cx="5504688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0488" y="2478024"/>
            <a:ext cx="73152" cy="1307592"/>
          </a:xfrm>
          <a:prstGeom prst="rect">
            <a:avLst/>
          </a:prstGeom>
          <a:solidFill>
            <a:srgbClr val="C05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514600"/>
            <a:ext cx="5047488" cy="1271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12A40"/>
                </a:solidFill>
                <a:latin typeface="Segoe UI Semibold"/>
              </a:rPr>
              <a:t>No governance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B78"/>
                </a:solidFill>
                <a:latin typeface="Segoe UI"/>
              </a:rPr>
              <a:t>Settlement approvals had no enforced thresholds; high-value credits could slip through.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133087"/>
            <a:ext cx="5504688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4279392"/>
            <a:ext cx="73152" cy="1307592"/>
          </a:xfrm>
          <a:prstGeom prst="rect">
            <a:avLst/>
          </a:prstGeom>
          <a:solidFill>
            <a:srgbClr val="1F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" y="4315968"/>
            <a:ext cx="5047488" cy="1271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12A40"/>
                </a:solidFill>
                <a:latin typeface="Segoe UI Semibold"/>
              </a:rPr>
              <a:t>Disconnected from SAP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B78"/>
                </a:solidFill>
                <a:latin typeface="Segoe UI"/>
              </a:rPr>
              <a:t>Invoice, product and pricing data re-keyed by hand, causing errors and delays.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0488" y="4133087"/>
            <a:ext cx="5504688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0488" y="4279392"/>
            <a:ext cx="73152" cy="130759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4315968"/>
            <a:ext cx="5047488" cy="1271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12A40"/>
                </a:solidFill>
                <a:latin typeface="Segoe UI Semibold"/>
              </a:rPr>
              <a:t>No audit trail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B78"/>
                </a:solidFill>
                <a:latin typeface="Segoe UI"/>
              </a:rPr>
              <a:t>Impossible to prove who did what, when — a compliance and quality risk.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945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0912F"/>
                </a:solidFill>
                <a:latin typeface="Segoe UI"/>
              </a:rPr>
              <a:t>02 ·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11155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 Semibold"/>
              </a:rPr>
              <a:t>CCMS in one picture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B9C7D2"/>
                </a:solidFill>
                <a:latin typeface="Segoe UI"/>
              </a:rPr>
              <a:t>Customer Complaint Management System  ·  Orient Paper &amp; Mill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280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E0912F"/>
                </a:solidFill>
                <a:latin typeface="Segoe UI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371600"/>
            <a:ext cx="11155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1A2530"/>
                </a:solidFill>
                <a:latin typeface="Segoe UI"/>
              </a:rPr>
              <a:t>A web platform that runs the full complaint journey — from logging to credit note — with the rules, roles and SAP links built 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148840"/>
            <a:ext cx="3630168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3630168" cy="109728"/>
          </a:xfrm>
          <a:prstGeom prst="round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2441448"/>
            <a:ext cx="3172968" cy="1417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112A40"/>
                </a:solidFill>
                <a:latin typeface="Segoe UI Semibold"/>
              </a:rPr>
              <a:t>Full lifecycle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5A6B78"/>
                </a:solidFill>
                <a:latin typeface="Segoe UI"/>
              </a:rPr>
              <a:t>8 stages, Draft → Closed, enforced by a state machine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148840"/>
            <a:ext cx="3630168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297680" y="2148840"/>
            <a:ext cx="3630168" cy="109728"/>
          </a:xfrm>
          <a:prstGeom prst="roundRect">
            <a:avLst/>
          </a:prstGeom>
          <a:solidFill>
            <a:srgbClr val="1F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53712" y="2441448"/>
            <a:ext cx="3172968" cy="1417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112A40"/>
                </a:solidFill>
                <a:latin typeface="Segoe UI Semibold"/>
              </a:rPr>
              <a:t>Governed settlements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5A6B78"/>
                </a:solidFill>
                <a:latin typeface="Segoe UI"/>
              </a:rPr>
              <a:t>Auto-gates for MD approval, visits and finance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2148840"/>
            <a:ext cx="3630168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630168" cy="109728"/>
          </a:xfrm>
          <a:prstGeom prst="round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8472" y="2441448"/>
            <a:ext cx="3172968" cy="1417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112A40"/>
                </a:solidFill>
                <a:latin typeface="Segoe UI Semibold"/>
              </a:rPr>
              <a:t>Live SAP data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5A6B78"/>
                </a:solidFill>
                <a:latin typeface="Segoe UI"/>
              </a:rPr>
              <a:t>Invoices, products and pricing pulled from S/4HANA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206240"/>
            <a:ext cx="3630168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920" y="4206240"/>
            <a:ext cx="3630168" cy="109728"/>
          </a:xfrm>
          <a:prstGeom prst="roundRect">
            <a:avLst/>
          </a:prstGeom>
          <a:solidFill>
            <a:srgbClr val="1F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8952" y="4498848"/>
            <a:ext cx="3172968" cy="1417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112A40"/>
                </a:solidFill>
                <a:latin typeface="Segoe UI Semibold"/>
              </a:rPr>
              <a:t>Role-based portals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5A6B78"/>
                </a:solidFill>
                <a:latin typeface="Segoe UI"/>
              </a:rPr>
              <a:t>12 roles, each sees only its own action queue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4206240"/>
            <a:ext cx="3630168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297680" y="4206240"/>
            <a:ext cx="3630168" cy="109728"/>
          </a:xfrm>
          <a:prstGeom prst="round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53712" y="4498848"/>
            <a:ext cx="3172968" cy="1417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112A40"/>
                </a:solidFill>
                <a:latin typeface="Segoe UI Semibold"/>
              </a:rPr>
              <a:t>Sample &amp; CAPA tracking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5A6B78"/>
                </a:solidFill>
                <a:latin typeface="Segoe UI"/>
              </a:rPr>
              <a:t>Physical sample QC gate + root-cause records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2440" y="4206240"/>
            <a:ext cx="3630168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092440" y="4206240"/>
            <a:ext cx="3630168" cy="109728"/>
          </a:xfrm>
          <a:prstGeom prst="roundRect">
            <a:avLst/>
          </a:prstGeom>
          <a:solidFill>
            <a:srgbClr val="1F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48472" y="4498848"/>
            <a:ext cx="3172968" cy="1417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112A40"/>
                </a:solidFill>
                <a:latin typeface="Segoe UI Semibold"/>
              </a:rPr>
              <a:t>Immutable audit log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5A6B78"/>
                </a:solidFill>
                <a:latin typeface="Segoe UI"/>
              </a:rPr>
              <a:t>Checksummed, append-only, tamper-evident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945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0912F"/>
                </a:solidFill>
                <a:latin typeface="Segoe UI"/>
              </a:rPr>
              <a:t>02 ·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11155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 Semibold"/>
              </a:rPr>
              <a:t>System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B9C7D2"/>
                </a:solidFill>
                <a:latin typeface="Segoe UI"/>
              </a:rPr>
              <a:t>Customer Complaint Management System  ·  Orient Paper &amp; Mill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280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E0912F"/>
                </a:solidFill>
                <a:latin typeface="Segoe UI"/>
              </a:rPr>
              <a:t>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17320"/>
            <a:ext cx="35661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417320"/>
            <a:ext cx="3566160" cy="457200"/>
          </a:xfrm>
          <a:prstGeom prst="round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645920"/>
            <a:ext cx="3566160" cy="228600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417320"/>
            <a:ext cx="32918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Segoe UI Semibold"/>
              </a:rPr>
              <a:t>PRESENTATION  ·  Frontend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" y="1984248"/>
            <a:ext cx="3182112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5A6B78"/>
                </a:solidFill>
                <a:latin typeface="Segoe UI"/>
              </a:rPr>
              <a:t>Vanilla-JS SPA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A2530"/>
                </a:solidFill>
                <a:latin typeface="Segoe UI"/>
              </a:rPr>
              <a:t>•  Role-aware portals &amp; router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A2530"/>
                </a:solidFill>
                <a:latin typeface="Segoe UI"/>
              </a:rPr>
              <a:t>•  Dashboard, complaints, detail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A2530"/>
                </a:solidFill>
                <a:latin typeface="Segoe UI"/>
              </a:rPr>
              <a:t>•  Login via httpOnly JWT cookie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A2530"/>
                </a:solidFill>
                <a:latin typeface="Segoe UI"/>
              </a:rPr>
              <a:t>•  Static server on :5173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5968" y="1417320"/>
            <a:ext cx="35661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15968" y="1417320"/>
            <a:ext cx="3566160" cy="457200"/>
          </a:xfrm>
          <a:prstGeom prst="roundRect">
            <a:avLst/>
          </a:prstGeom>
          <a:solidFill>
            <a:srgbClr val="1F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15968" y="1645920"/>
            <a:ext cx="3566160" cy="228600"/>
          </a:xfrm>
          <a:prstGeom prst="rect">
            <a:avLst/>
          </a:prstGeom>
          <a:solidFill>
            <a:srgbClr val="1F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98848" y="1417320"/>
            <a:ext cx="32918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Segoe UI Semibold"/>
              </a:rPr>
              <a:t>APPLICATION  ·  Backend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5424" y="1984248"/>
            <a:ext cx="3182112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5A6B78"/>
                </a:solidFill>
                <a:latin typeface="Segoe UI"/>
              </a:rPr>
              <a:t>Express REST API :3000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A2530"/>
                </a:solidFill>
                <a:latin typeface="Segoe UI"/>
              </a:rPr>
              <a:t>•  Auth · RBAC · rate limiting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A2530"/>
                </a:solidFill>
                <a:latin typeface="Segoe UI"/>
              </a:rPr>
              <a:t>•  Workflow &amp; policy engines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A2530"/>
                </a:solidFill>
                <a:latin typeface="Segoe UI"/>
              </a:rPr>
              <a:t>•  SLA + archival schedulers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A2530"/>
                </a:solidFill>
                <a:latin typeface="Segoe UI"/>
              </a:rPr>
              <a:t>•  Notification service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29016" y="1417320"/>
            <a:ext cx="35661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129016" y="1417320"/>
            <a:ext cx="3566160" cy="457200"/>
          </a:xfrm>
          <a:prstGeom prst="round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29016" y="1645920"/>
            <a:ext cx="3566160" cy="228600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1896" y="1417320"/>
            <a:ext cx="32918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Segoe UI Semibold"/>
              </a:rPr>
              <a:t>DATA &amp; INTEGRATION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48472" y="1984248"/>
            <a:ext cx="3182112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5A6B78"/>
                </a:solidFill>
                <a:latin typeface="Segoe UI"/>
              </a:rPr>
              <a:t>PostgreSQL + SAP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A2530"/>
                </a:solidFill>
                <a:latin typeface="Segoe UI"/>
              </a:rPr>
              <a:t>•  18-table relational schema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A2530"/>
                </a:solidFill>
                <a:latin typeface="Segoe UI"/>
              </a:rPr>
              <a:t>•  Append-only audit log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A2530"/>
                </a:solidFill>
                <a:latin typeface="Segoe UI"/>
              </a:rPr>
              <a:t>•  SAP S/4HANA connector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A2530"/>
                </a:solidFill>
                <a:latin typeface="Segoe UI"/>
              </a:rPr>
              <a:t>•  Mock/live switch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4087368" y="2331720"/>
            <a:ext cx="201168" cy="365760"/>
          </a:xfrm>
          <a:prstGeom prst="rightArrow">
            <a:avLst/>
          </a:prstGeom>
          <a:solidFill>
            <a:srgbClr val="5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ight Arrow 24"/>
          <p:cNvSpPr/>
          <p:nvPr/>
        </p:nvSpPr>
        <p:spPr>
          <a:xfrm>
            <a:off x="7900416" y="2331720"/>
            <a:ext cx="201168" cy="365760"/>
          </a:xfrm>
          <a:prstGeom prst="rightArrow">
            <a:avLst/>
          </a:prstGeom>
          <a:solidFill>
            <a:srgbClr val="5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2920" y="3840480"/>
            <a:ext cx="11192256" cy="960120"/>
          </a:xfrm>
          <a:prstGeom prst="roundRect">
            <a:avLst/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393192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12A40"/>
                </a:solidFill>
                <a:latin typeface="Segoe UI"/>
              </a:rPr>
              <a:t>CROSS-CUTTING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3232" y="4279392"/>
            <a:ext cx="25603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2" y="4279392"/>
            <a:ext cx="25603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A2530"/>
                </a:solidFill>
                <a:latin typeface="Segoe UI"/>
              </a:rPr>
              <a:t>Helmet security headers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56432" y="4279392"/>
            <a:ext cx="25603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56432" y="4279392"/>
            <a:ext cx="25603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A2530"/>
                </a:solidFill>
                <a:latin typeface="Segoe UI"/>
              </a:rPr>
              <a:t>CORS + credentials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99632" y="4279392"/>
            <a:ext cx="25603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99632" y="4279392"/>
            <a:ext cx="25603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A2530"/>
                </a:solidFill>
                <a:latin typeface="Segoe UI"/>
              </a:rPr>
              <a:t>JWT auth (8h)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42832" y="4279392"/>
            <a:ext cx="25603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42832" y="4279392"/>
            <a:ext cx="25603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A2530"/>
                </a:solidFill>
                <a:latin typeface="Segoe UI"/>
              </a:rPr>
              <a:t>bcrypt hashing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3232" y="4663440"/>
            <a:ext cx="25603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3232" y="4663440"/>
            <a:ext cx="25603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A2530"/>
                </a:solidFill>
                <a:latin typeface="Segoe UI"/>
              </a:rPr>
              <a:t>Rate limiting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456432" y="4663440"/>
            <a:ext cx="25603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56432" y="4663440"/>
            <a:ext cx="25603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A2530"/>
                </a:solidFill>
                <a:latin typeface="Segoe UI"/>
              </a:rPr>
              <a:t>Audit checksums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99632" y="4663440"/>
            <a:ext cx="25603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99632" y="4663440"/>
            <a:ext cx="25603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A2530"/>
                </a:solidFill>
                <a:latin typeface="Segoe UI"/>
              </a:rPr>
              <a:t>Read scoping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42832" y="4663440"/>
            <a:ext cx="25603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942832" y="4663440"/>
            <a:ext cx="25603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A2530"/>
                </a:solidFill>
                <a:latin typeface="Segoe UI"/>
              </a:rPr>
              <a:t>Input validation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5029200"/>
            <a:ext cx="111556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12A40"/>
                </a:solidFill>
                <a:latin typeface="Segoe UI"/>
              </a:rPr>
              <a:t>Request flow:  </a:t>
            </a:r>
            <a:r>
              <a:rPr sz="1200" b="0">
                <a:solidFill>
                  <a:srgbClr val="1A2530"/>
                </a:solidFill>
                <a:latin typeface="Segoe UI"/>
              </a:rPr>
              <a:t>Browser  →  Express (auth → RBAC → route) → workflow/policy engine → PostgreSQL, with SAP touchpoints for invoice, master-data and credit-note operations. Every state change writes an immutable, checksummed audit entry.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945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0912F"/>
                </a:solidFill>
                <a:latin typeface="Segoe UI"/>
              </a:rPr>
              <a:t>02 ·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11155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 Semibold"/>
              </a:rPr>
              <a:t>Technology stack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B9C7D2"/>
                </a:solidFill>
                <a:latin typeface="Segoe UI"/>
              </a:rPr>
              <a:t>Customer Complaint Management System  ·  Orient Paper &amp; Mill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280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E0912F"/>
                </a:solidFill>
                <a:latin typeface="Segoe UI"/>
              </a:rPr>
              <a:t>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08760"/>
            <a:ext cx="5504688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508760"/>
            <a:ext cx="109728" cy="2148840"/>
          </a:xfrm>
          <a:prstGeom prst="round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691639"/>
            <a:ext cx="50474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12A40"/>
                </a:solidFill>
                <a:latin typeface="Segoe UI Semibold"/>
              </a:rPr>
              <a:t>Backend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221991"/>
            <a:ext cx="2409444" cy="402336"/>
          </a:xfrm>
          <a:prstGeom prst="roundRect">
            <a:avLst>
              <a:gd name="adj" fmla="val 50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221991"/>
            <a:ext cx="24094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2530"/>
                </a:solidFill>
                <a:latin typeface="Segoe UI"/>
              </a:rPr>
              <a:t>Node.js 18+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00984" y="2221991"/>
            <a:ext cx="2409444" cy="402336"/>
          </a:xfrm>
          <a:prstGeom prst="roundRect">
            <a:avLst>
              <a:gd name="adj" fmla="val 50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00984" y="2221991"/>
            <a:ext cx="24094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2530"/>
                </a:solidFill>
                <a:latin typeface="Segoe UI"/>
              </a:rPr>
              <a:t>Express 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2788920"/>
            <a:ext cx="2409444" cy="402336"/>
          </a:xfrm>
          <a:prstGeom prst="roundRect">
            <a:avLst>
              <a:gd name="adj" fmla="val 50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788920"/>
            <a:ext cx="24094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2530"/>
                </a:solidFill>
                <a:latin typeface="Segoe UI"/>
              </a:rPr>
              <a:t>PostgreSQL 13+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00984" y="2788920"/>
            <a:ext cx="2409444" cy="402336"/>
          </a:xfrm>
          <a:prstGeom prst="roundRect">
            <a:avLst>
              <a:gd name="adj" fmla="val 50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00984" y="2788920"/>
            <a:ext cx="24094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2530"/>
                </a:solidFill>
                <a:latin typeface="Segoe UI"/>
              </a:rPr>
              <a:t>node-postgres (pg)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0488" y="1508760"/>
            <a:ext cx="5504688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90488" y="1508760"/>
            <a:ext cx="109728" cy="2148840"/>
          </a:xfrm>
          <a:prstGeom prst="roundRect">
            <a:avLst/>
          </a:prstGeom>
          <a:solidFill>
            <a:srgbClr val="1F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0527" y="1691639"/>
            <a:ext cx="50474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12A40"/>
                </a:solidFill>
                <a:latin typeface="Segoe UI Semibold"/>
              </a:rPr>
              <a:t>Security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10527" y="2221991"/>
            <a:ext cx="2409444" cy="402336"/>
          </a:xfrm>
          <a:prstGeom prst="roundRect">
            <a:avLst>
              <a:gd name="adj" fmla="val 50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10527" y="2221991"/>
            <a:ext cx="24094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2530"/>
                </a:solidFill>
                <a:latin typeface="Segoe UI"/>
              </a:rPr>
              <a:t>JSON Web Tokens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88551" y="2221991"/>
            <a:ext cx="2409444" cy="402336"/>
          </a:xfrm>
          <a:prstGeom prst="roundRect">
            <a:avLst>
              <a:gd name="adj" fmla="val 50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88551" y="2221991"/>
            <a:ext cx="24094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2530"/>
                </a:solidFill>
                <a:latin typeface="Segoe UI"/>
              </a:rPr>
              <a:t>bcryptjs hashing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10527" y="2788920"/>
            <a:ext cx="2409444" cy="402336"/>
          </a:xfrm>
          <a:prstGeom prst="roundRect">
            <a:avLst>
              <a:gd name="adj" fmla="val 50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0527" y="2788920"/>
            <a:ext cx="24094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2530"/>
                </a:solidFill>
                <a:latin typeface="Segoe UI"/>
              </a:rPr>
              <a:t>Helmet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88551" y="2788920"/>
            <a:ext cx="2409444" cy="402336"/>
          </a:xfrm>
          <a:prstGeom prst="roundRect">
            <a:avLst>
              <a:gd name="adj" fmla="val 50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88551" y="2788920"/>
            <a:ext cx="24094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2530"/>
                </a:solidFill>
                <a:latin typeface="Segoe UI"/>
              </a:rPr>
              <a:t>express-rate-limit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3858768"/>
            <a:ext cx="5504688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02920" y="3858768"/>
            <a:ext cx="109728" cy="2148840"/>
          </a:xfrm>
          <a:prstGeom prst="round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041648"/>
            <a:ext cx="50474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12A40"/>
                </a:solidFill>
                <a:latin typeface="Segoe UI Semibold"/>
              </a:rPr>
              <a:t>Frontend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" y="4572000"/>
            <a:ext cx="2409444" cy="402336"/>
          </a:xfrm>
          <a:prstGeom prst="roundRect">
            <a:avLst>
              <a:gd name="adj" fmla="val 50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4572000"/>
            <a:ext cx="24094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2530"/>
                </a:solidFill>
                <a:latin typeface="Segoe UI"/>
              </a:rPr>
              <a:t>Vanilla JavaScript SPA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00984" y="4572000"/>
            <a:ext cx="2409444" cy="402336"/>
          </a:xfrm>
          <a:prstGeom prst="roundRect">
            <a:avLst>
              <a:gd name="adj" fmla="val 50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00984" y="4572000"/>
            <a:ext cx="24094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2530"/>
                </a:solidFill>
                <a:latin typeface="Segoe UI"/>
              </a:rPr>
              <a:t>Hand-rolled router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22960" y="5138928"/>
            <a:ext cx="2409444" cy="402336"/>
          </a:xfrm>
          <a:prstGeom prst="roundRect">
            <a:avLst>
              <a:gd name="adj" fmla="val 50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5138928"/>
            <a:ext cx="24094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2530"/>
                </a:solidFill>
                <a:latin typeface="Segoe UI"/>
              </a:rPr>
              <a:t>CSS design system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00984" y="5138928"/>
            <a:ext cx="2409444" cy="402336"/>
          </a:xfrm>
          <a:prstGeom prst="roundRect">
            <a:avLst>
              <a:gd name="adj" fmla="val 50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00984" y="5138928"/>
            <a:ext cx="24094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2530"/>
                </a:solidFill>
                <a:latin typeface="Segoe UI"/>
              </a:rPr>
              <a:t>Zero build step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90488" y="3858768"/>
            <a:ext cx="5504688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190488" y="3858768"/>
            <a:ext cx="109728" cy="2148840"/>
          </a:xfrm>
          <a:prstGeom prst="round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10527" y="4041648"/>
            <a:ext cx="50474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12A40"/>
                </a:solidFill>
                <a:latin typeface="Segoe UI Semibold"/>
              </a:rPr>
              <a:t>Tooling &amp; Ops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510527" y="4572000"/>
            <a:ext cx="2409444" cy="402336"/>
          </a:xfrm>
          <a:prstGeom prst="roundRect">
            <a:avLst>
              <a:gd name="adj" fmla="val 50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10527" y="4572000"/>
            <a:ext cx="24094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2530"/>
                </a:solidFill>
                <a:latin typeface="Segoe UI"/>
              </a:rPr>
              <a:t>node:test (32 tests)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988551" y="4572000"/>
            <a:ext cx="2409444" cy="402336"/>
          </a:xfrm>
          <a:prstGeom prst="roundRect">
            <a:avLst>
              <a:gd name="adj" fmla="val 50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988551" y="4572000"/>
            <a:ext cx="24094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2530"/>
                </a:solidFill>
                <a:latin typeface="Segoe UI"/>
              </a:rPr>
              <a:t>Nodemailer notifications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510527" y="5138928"/>
            <a:ext cx="2409444" cy="402336"/>
          </a:xfrm>
          <a:prstGeom prst="roundRect">
            <a:avLst>
              <a:gd name="adj" fmla="val 50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10527" y="5138928"/>
            <a:ext cx="24094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2530"/>
                </a:solidFill>
                <a:latin typeface="Segoe UI"/>
              </a:rPr>
              <a:t>dotenv config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988551" y="5138928"/>
            <a:ext cx="2409444" cy="402336"/>
          </a:xfrm>
          <a:prstGeom prst="roundRect">
            <a:avLst>
              <a:gd name="adj" fmla="val 50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988551" y="5138928"/>
            <a:ext cx="24094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2530"/>
                </a:solidFill>
                <a:latin typeface="Segoe UI"/>
              </a:rPr>
              <a:t>Postman collection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945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0912F"/>
                </a:solidFill>
                <a:latin typeface="Segoe UI"/>
              </a:rPr>
              <a:t>03 · DATA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11155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 Semibold"/>
              </a:rPr>
              <a:t>18-table schema: master + transactional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B9C7D2"/>
                </a:solidFill>
                <a:latin typeface="Segoe UI"/>
              </a:rPr>
              <a:t>Customer Complaint Management System  ·  Orient Paper &amp; Mill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280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E0912F"/>
                </a:solidFill>
                <a:latin typeface="Segoe UI"/>
              </a:rPr>
              <a:t>06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17320"/>
            <a:ext cx="562356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417320"/>
            <a:ext cx="5623560" cy="502920"/>
          </a:xfrm>
          <a:prstGeom prst="round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691640"/>
            <a:ext cx="5623560" cy="228600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417320"/>
            <a:ext cx="51206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Segoe UI Semibold"/>
              </a:rPr>
              <a:t>MASTER DATA   ·   9 entities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084831"/>
            <a:ext cx="5120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0912F"/>
                </a:solidFill>
                <a:latin typeface="Segoe UI"/>
              </a:rPr>
              <a:t>›  </a:t>
            </a:r>
            <a:r>
              <a:rPr sz="1250" b="0">
                <a:solidFill>
                  <a:srgbClr val="1A2530"/>
                </a:solidFill>
                <a:latin typeface="Segoe UI"/>
              </a:rPr>
              <a:t>Customer / Distributor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496312"/>
            <a:ext cx="5120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0912F"/>
                </a:solidFill>
                <a:latin typeface="Segoe UI"/>
              </a:rPr>
              <a:t>›  </a:t>
            </a:r>
            <a:r>
              <a:rPr sz="1250" b="0">
                <a:solidFill>
                  <a:srgbClr val="1A2530"/>
                </a:solidFill>
                <a:latin typeface="Segoe UI"/>
              </a:rPr>
              <a:t>User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907791"/>
            <a:ext cx="5120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0912F"/>
                </a:solidFill>
                <a:latin typeface="Segoe UI"/>
              </a:rPr>
              <a:t>›  </a:t>
            </a:r>
            <a:r>
              <a:rPr sz="1250" b="0">
                <a:solidFill>
                  <a:srgbClr val="1A2530"/>
                </a:solidFill>
                <a:latin typeface="Segoe UI"/>
              </a:rPr>
              <a:t>Role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319272"/>
            <a:ext cx="5120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0912F"/>
                </a:solidFill>
                <a:latin typeface="Segoe UI"/>
              </a:rPr>
              <a:t>›  </a:t>
            </a:r>
            <a:r>
              <a:rPr sz="1250" b="0">
                <a:solidFill>
                  <a:srgbClr val="1A2530"/>
                </a:solidFill>
                <a:latin typeface="Segoe UI"/>
              </a:rPr>
              <a:t>Department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730752"/>
            <a:ext cx="5120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0912F"/>
                </a:solidFill>
                <a:latin typeface="Segoe UI"/>
              </a:rPr>
              <a:t>›  </a:t>
            </a:r>
            <a:r>
              <a:rPr sz="1250" b="0">
                <a:solidFill>
                  <a:srgbClr val="1A2530"/>
                </a:solidFill>
                <a:latin typeface="Segoe UI"/>
              </a:rPr>
              <a:t>Product / SKU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142231"/>
            <a:ext cx="5120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0912F"/>
                </a:solidFill>
                <a:latin typeface="Segoe UI"/>
              </a:rPr>
              <a:t>›  </a:t>
            </a:r>
            <a:r>
              <a:rPr sz="1250" b="0">
                <a:solidFill>
                  <a:srgbClr val="1A2530"/>
                </a:solidFill>
                <a:latin typeface="Segoe UI"/>
              </a:rPr>
              <a:t>Invoice (Billing Doc)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553712"/>
            <a:ext cx="5120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0912F"/>
                </a:solidFill>
                <a:latin typeface="Segoe UI"/>
              </a:rPr>
              <a:t>›  </a:t>
            </a:r>
            <a:r>
              <a:rPr sz="1250" b="0">
                <a:solidFill>
                  <a:srgbClr val="1A2530"/>
                </a:solidFill>
                <a:latin typeface="Segoe UI"/>
              </a:rPr>
              <a:t>Complaint Type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965192"/>
            <a:ext cx="5120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0912F"/>
                </a:solidFill>
                <a:latin typeface="Segoe UI"/>
              </a:rPr>
              <a:t>›  </a:t>
            </a:r>
            <a:r>
              <a:rPr sz="1250" b="0">
                <a:solidFill>
                  <a:srgbClr val="1A2530"/>
                </a:solidFill>
                <a:latin typeface="Segoe UI"/>
              </a:rPr>
              <a:t>Sample Type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376672"/>
            <a:ext cx="5120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0912F"/>
                </a:solidFill>
                <a:latin typeface="Segoe UI"/>
              </a:rPr>
              <a:t>›  </a:t>
            </a:r>
            <a:r>
              <a:rPr sz="1250" b="0">
                <a:solidFill>
                  <a:srgbClr val="1A2530"/>
                </a:solidFill>
                <a:latin typeface="Segoe UI"/>
              </a:rPr>
              <a:t>Sales Policy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55080" y="1417320"/>
            <a:ext cx="5330952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55080" y="1417320"/>
            <a:ext cx="5330952" cy="502920"/>
          </a:xfrm>
          <a:prstGeom prst="roundRect">
            <a:avLst/>
          </a:prstGeom>
          <a:solidFill>
            <a:srgbClr val="1F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55080" y="1691640"/>
            <a:ext cx="5330952" cy="228600"/>
          </a:xfrm>
          <a:prstGeom prst="rect">
            <a:avLst/>
          </a:prstGeom>
          <a:solidFill>
            <a:srgbClr val="1F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1417320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Segoe UI Semibold"/>
              </a:rPr>
              <a:t>TRANSACTIONAL   ·   7 entities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2066543"/>
            <a:ext cx="4800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8A80"/>
                </a:solidFill>
                <a:latin typeface="Segoe UI"/>
              </a:rPr>
              <a:t>›  </a:t>
            </a:r>
            <a:r>
              <a:rPr sz="1250" b="1">
                <a:solidFill>
                  <a:srgbClr val="1A2530"/>
                </a:solidFill>
                <a:latin typeface="Segoe UI"/>
              </a:rPr>
              <a:t>Complaint</a:t>
            </a:r>
            <a:r>
              <a:rPr sz="1050" b="0">
                <a:solidFill>
                  <a:srgbClr val="5A6B78"/>
                </a:solidFill>
                <a:latin typeface="Segoe UI"/>
              </a:rPr>
              <a:t>   status, settlement value, gates, policy flag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2601468"/>
            <a:ext cx="4800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8A80"/>
                </a:solidFill>
                <a:latin typeface="Segoe UI"/>
              </a:rPr>
              <a:t>›  </a:t>
            </a:r>
            <a:r>
              <a:rPr sz="1250" b="1">
                <a:solidFill>
                  <a:srgbClr val="1A2530"/>
                </a:solidFill>
                <a:latin typeface="Segoe UI"/>
              </a:rPr>
              <a:t>Line Item</a:t>
            </a:r>
            <a:r>
              <a:rPr sz="1050" b="0">
                <a:solidFill>
                  <a:srgbClr val="5A6B78"/>
                </a:solidFill>
                <a:latin typeface="Segoe UI"/>
              </a:rPr>
              <a:t>   defective value = unit price × defective qty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3136391"/>
            <a:ext cx="4800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8A80"/>
                </a:solidFill>
                <a:latin typeface="Segoe UI"/>
              </a:rPr>
              <a:t>›  </a:t>
            </a:r>
            <a:r>
              <a:rPr sz="1250" b="1">
                <a:solidFill>
                  <a:srgbClr val="1A2530"/>
                </a:solidFill>
                <a:latin typeface="Segoe UI"/>
              </a:rPr>
              <a:t>Attachment</a:t>
            </a:r>
            <a:r>
              <a:rPr sz="1050" b="0">
                <a:solidFill>
                  <a:srgbClr val="5A6B78"/>
                </a:solidFill>
                <a:latin typeface="Segoe UI"/>
              </a:rPr>
              <a:t>   photos / videos per line item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0840" y="3671315"/>
            <a:ext cx="4800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8A80"/>
                </a:solidFill>
                <a:latin typeface="Segoe UI"/>
              </a:rPr>
              <a:t>›  </a:t>
            </a:r>
            <a:r>
              <a:rPr sz="1250" b="1">
                <a:solidFill>
                  <a:srgbClr val="1A2530"/>
                </a:solidFill>
                <a:latin typeface="Segoe UI"/>
              </a:rPr>
              <a:t>Sample Record</a:t>
            </a:r>
            <a:r>
              <a:rPr sz="1050" b="0">
                <a:solidFill>
                  <a:srgbClr val="5A6B78"/>
                </a:solidFill>
                <a:latin typeface="Segoe UI"/>
              </a:rPr>
              <a:t>   Awaited → Received → Tested → Disposed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4206240"/>
            <a:ext cx="4800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8A80"/>
                </a:solidFill>
                <a:latin typeface="Segoe UI"/>
              </a:rPr>
              <a:t>›  </a:t>
            </a:r>
            <a:r>
              <a:rPr sz="1250" b="1">
                <a:solidFill>
                  <a:srgbClr val="1A2530"/>
                </a:solidFill>
                <a:latin typeface="Segoe UI"/>
              </a:rPr>
              <a:t>Visit Record</a:t>
            </a:r>
            <a:r>
              <a:rPr sz="1050" b="0">
                <a:solidFill>
                  <a:srgbClr val="5A6B78"/>
                </a:solidFill>
                <a:latin typeface="Segoe UI"/>
              </a:rPr>
              <a:t>   Planned → Completed, outcome &amp; sign-off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4741164"/>
            <a:ext cx="4800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8A80"/>
                </a:solidFill>
                <a:latin typeface="Segoe UI"/>
              </a:rPr>
              <a:t>›  </a:t>
            </a:r>
            <a:r>
              <a:rPr sz="1250" b="1">
                <a:solidFill>
                  <a:srgbClr val="1A2530"/>
                </a:solidFill>
                <a:latin typeface="Segoe UI"/>
              </a:rPr>
              <a:t>CAPA Record</a:t>
            </a:r>
            <a:r>
              <a:rPr sz="1050" b="0">
                <a:solidFill>
                  <a:srgbClr val="5A6B78"/>
                </a:solidFill>
                <a:latin typeface="Segoe UI"/>
              </a:rPr>
              <a:t>   root cause, corrective, preventive action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20840" y="5276088"/>
            <a:ext cx="4800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8A80"/>
                </a:solidFill>
                <a:latin typeface="Segoe UI"/>
              </a:rPr>
              <a:t>›  </a:t>
            </a:r>
            <a:r>
              <a:rPr sz="1250" b="1">
                <a:solidFill>
                  <a:srgbClr val="1A2530"/>
                </a:solidFill>
                <a:latin typeface="Segoe UI"/>
              </a:rPr>
              <a:t>Credit Note</a:t>
            </a:r>
            <a:r>
              <a:rPr sz="1050" b="0">
                <a:solidFill>
                  <a:srgbClr val="5A6B78"/>
                </a:solidFill>
                <a:latin typeface="Segoe UI"/>
              </a:rPr>
              <a:t>   SAP CN number written back at closure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053328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12A40"/>
                </a:solidFill>
                <a:latin typeface="Segoe UI"/>
              </a:rPr>
              <a:t>Integrity by design:  </a:t>
            </a:r>
            <a:r>
              <a:rPr sz="1150" b="0">
                <a:solidFill>
                  <a:srgbClr val="5A6B78"/>
                </a:solidFill>
                <a:latin typeface="Segoe UI"/>
              </a:rPr>
              <a:t>money stored as numeric · defective value is a generated column · all statuses CHECK-constrained · audit log append-only at the DB level.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945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0912F"/>
                </a:solidFill>
                <a:latin typeface="Segoe UI"/>
              </a:rPr>
              <a:t>04 ·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11155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 Semibold"/>
              </a:rPr>
              <a:t>The 8-stage complaint lifecycle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B9C7D2"/>
                </a:solidFill>
                <a:latin typeface="Segoe UI"/>
              </a:rPr>
              <a:t>Customer Complaint Management System  ·  Orient Paper &amp; Mill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280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E0912F"/>
                </a:solidFill>
                <a:latin typeface="Segoe UI"/>
              </a:rPr>
              <a:t>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81328"/>
            <a:ext cx="2615184" cy="786384"/>
          </a:xfrm>
          <a:prstGeom prst="roundRect">
            <a:avLst/>
          </a:prstGeom>
          <a:solidFill>
            <a:srgbClr val="112A40"/>
          </a:solidFill>
          <a:ln>
            <a:noFill/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1572768"/>
            <a:ext cx="2395728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Logged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DDE6EC"/>
                </a:solidFill>
                <a:latin typeface="Segoe UI"/>
              </a:rPr>
              <a:t>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10128" y="1481328"/>
            <a:ext cx="2615184" cy="786384"/>
          </a:xfrm>
          <a:prstGeom prst="roundRect">
            <a:avLst/>
          </a:prstGeom>
          <a:solidFill>
            <a:srgbClr val="112A40"/>
          </a:solidFill>
          <a:ln>
            <a:noFill/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9856" y="1572768"/>
            <a:ext cx="2395728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TS_Review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DDE6EC"/>
                </a:solidFill>
                <a:latin typeface="Segoe UI"/>
              </a:rPr>
              <a:t>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17336" y="1481328"/>
            <a:ext cx="2615184" cy="786384"/>
          </a:xfrm>
          <a:prstGeom prst="roundRect">
            <a:avLst/>
          </a:prstGeom>
          <a:solidFill>
            <a:srgbClr val="1F8A80"/>
          </a:solidFill>
          <a:ln>
            <a:noFill/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27064" y="1572768"/>
            <a:ext cx="2395728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QC_Review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DDE6EC"/>
                </a:solidFill>
                <a:latin typeface="Segoe UI"/>
              </a:rPr>
              <a:t>QC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24544" y="1481328"/>
            <a:ext cx="2615184" cy="786384"/>
          </a:xfrm>
          <a:prstGeom prst="roundRect">
            <a:avLst/>
          </a:prstGeom>
          <a:solidFill>
            <a:srgbClr val="1F8A80"/>
          </a:solidFill>
          <a:ln>
            <a:noFill/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34272" y="1572768"/>
            <a:ext cx="2395728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Sample_Awaited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DDE6EC"/>
                </a:solidFill>
                <a:latin typeface="Segoe UI"/>
              </a:rPr>
              <a:t>QC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753344" y="1371600"/>
            <a:ext cx="786384" cy="292608"/>
          </a:xfrm>
          <a:prstGeom prst="roundRect">
            <a:avLst>
              <a:gd name="adj" fmla="val 50000"/>
            </a:avLst>
          </a:prstGeom>
          <a:solidFill>
            <a:srgbClr val="C05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53344" y="1371600"/>
            <a:ext cx="78638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FFFFFF"/>
                </a:solidFill>
                <a:latin typeface="Segoe UI"/>
              </a:rPr>
              <a:t>GATE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542032"/>
            <a:ext cx="2615184" cy="786384"/>
          </a:xfrm>
          <a:prstGeom prst="roundRect">
            <a:avLst/>
          </a:prstGeom>
          <a:solidFill>
            <a:srgbClr val="6A4C93"/>
          </a:solidFill>
          <a:ln>
            <a:noFill/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" y="2633472"/>
            <a:ext cx="2395728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CAPA_Pending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DDE6EC"/>
                </a:solidFill>
                <a:latin typeface="Segoe UI"/>
              </a:rPr>
              <a:t>Ops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10128" y="2542032"/>
            <a:ext cx="2615184" cy="786384"/>
          </a:xfrm>
          <a:prstGeom prst="roundRect">
            <a:avLst/>
          </a:prstGeom>
          <a:solidFill>
            <a:srgbClr val="6A4C93"/>
          </a:solidFill>
          <a:ln>
            <a:noFill/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9856" y="2633472"/>
            <a:ext cx="2395728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Ops_Head_Approval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DDE6EC"/>
                </a:solidFill>
                <a:latin typeface="Segoe UI"/>
              </a:rPr>
              <a:t>Ops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17336" y="2542032"/>
            <a:ext cx="2615184" cy="786384"/>
          </a:xfrm>
          <a:prstGeom prst="roundRect">
            <a:avLst/>
          </a:prstGeom>
          <a:solidFill>
            <a:srgbClr val="B56A1E"/>
          </a:solidFill>
          <a:ln>
            <a:noFill/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27064" y="2633472"/>
            <a:ext cx="2395728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Marketing_Review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DDE6EC"/>
                </a:solidFill>
                <a:latin typeface="Segoe UI"/>
              </a:rPr>
              <a:t>Mktg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24544" y="2542032"/>
            <a:ext cx="2615184" cy="786384"/>
          </a:xfrm>
          <a:prstGeom prst="roundRect">
            <a:avLst/>
          </a:prstGeom>
          <a:solidFill>
            <a:srgbClr val="B56A1E"/>
          </a:solidFill>
          <a:ln>
            <a:noFill/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34272" y="2633472"/>
            <a:ext cx="2395728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Marketing_Head_Appr.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DDE6EC"/>
                </a:solidFill>
                <a:latin typeface="Segoe UI"/>
              </a:rPr>
              <a:t>Mktg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3602736"/>
            <a:ext cx="2615184" cy="786384"/>
          </a:xfrm>
          <a:prstGeom prst="roundRect">
            <a:avLst/>
          </a:prstGeom>
          <a:solidFill>
            <a:srgbClr val="C05340"/>
          </a:solidFill>
          <a:ln>
            <a:noFill/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8" y="3694176"/>
            <a:ext cx="2395728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MD_Approval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DDE6EC"/>
                </a:solidFill>
                <a:latin typeface="Segoe UI"/>
              </a:rPr>
              <a:t>MD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331720" y="3493008"/>
            <a:ext cx="786384" cy="292608"/>
          </a:xfrm>
          <a:prstGeom prst="roundRect">
            <a:avLst>
              <a:gd name="adj" fmla="val 50000"/>
            </a:avLst>
          </a:prstGeom>
          <a:solidFill>
            <a:srgbClr val="C05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331720" y="3493008"/>
            <a:ext cx="78638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FFFFFF"/>
                </a:solidFill>
                <a:latin typeface="Segoe UI"/>
              </a:rPr>
              <a:t>GATE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310128" y="3602736"/>
            <a:ext cx="2615184" cy="786384"/>
          </a:xfrm>
          <a:prstGeom prst="roundRect">
            <a:avLst/>
          </a:prstGeom>
          <a:solidFill>
            <a:srgbClr val="E0912F"/>
          </a:solidFill>
          <a:ln>
            <a:noFill/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19856" y="3694176"/>
            <a:ext cx="2395728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Visit_Pending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DDE6EC"/>
                </a:solidFill>
                <a:latin typeface="Segoe UI"/>
              </a:rPr>
              <a:t>Sales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138928" y="3493008"/>
            <a:ext cx="786384" cy="292608"/>
          </a:xfrm>
          <a:prstGeom prst="roundRect">
            <a:avLst>
              <a:gd name="adj" fmla="val 50000"/>
            </a:avLst>
          </a:prstGeom>
          <a:solidFill>
            <a:srgbClr val="C05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38928" y="3493008"/>
            <a:ext cx="78638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FFFFFF"/>
                </a:solidFill>
                <a:latin typeface="Segoe UI"/>
              </a:rPr>
              <a:t>GATE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17336" y="3602736"/>
            <a:ext cx="2615184" cy="786384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27064" y="3694176"/>
            <a:ext cx="2395728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Finance_Processing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DDE6EC"/>
                </a:solidFill>
                <a:latin typeface="Segoe UI"/>
              </a:rPr>
              <a:t>Fin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946136" y="3493008"/>
            <a:ext cx="786384" cy="292608"/>
          </a:xfrm>
          <a:prstGeom prst="roundRect">
            <a:avLst>
              <a:gd name="adj" fmla="val 50000"/>
            </a:avLst>
          </a:prstGeom>
          <a:solidFill>
            <a:srgbClr val="C05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46136" y="3493008"/>
            <a:ext cx="78638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FFFFFF"/>
                </a:solidFill>
                <a:latin typeface="Segoe UI"/>
              </a:rPr>
              <a:t>GATE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24544" y="3602736"/>
            <a:ext cx="2615184" cy="786384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34272" y="3694176"/>
            <a:ext cx="2395728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Closed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DDE6EC"/>
                </a:solidFill>
                <a:latin typeface="Segoe UI"/>
              </a:rPr>
              <a:t>—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3099816" y="1764792"/>
            <a:ext cx="182880" cy="219456"/>
          </a:xfrm>
          <a:prstGeom prst="rightArrow">
            <a:avLst/>
          </a:prstGeom>
          <a:solidFill>
            <a:srgbClr val="5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ight Arrow 41"/>
          <p:cNvSpPr/>
          <p:nvPr/>
        </p:nvSpPr>
        <p:spPr>
          <a:xfrm>
            <a:off x="5907024" y="1764792"/>
            <a:ext cx="182880" cy="219456"/>
          </a:xfrm>
          <a:prstGeom prst="rightArrow">
            <a:avLst/>
          </a:prstGeom>
          <a:solidFill>
            <a:srgbClr val="5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ight Arrow 42"/>
          <p:cNvSpPr/>
          <p:nvPr/>
        </p:nvSpPr>
        <p:spPr>
          <a:xfrm>
            <a:off x="8714232" y="1764792"/>
            <a:ext cx="182880" cy="219456"/>
          </a:xfrm>
          <a:prstGeom prst="rightArrow">
            <a:avLst/>
          </a:prstGeom>
          <a:solidFill>
            <a:srgbClr val="5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ight Arrow 43"/>
          <p:cNvSpPr/>
          <p:nvPr/>
        </p:nvSpPr>
        <p:spPr>
          <a:xfrm>
            <a:off x="3099816" y="2825496"/>
            <a:ext cx="182880" cy="219456"/>
          </a:xfrm>
          <a:prstGeom prst="rightArrow">
            <a:avLst/>
          </a:prstGeom>
          <a:solidFill>
            <a:srgbClr val="5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ight Arrow 44"/>
          <p:cNvSpPr/>
          <p:nvPr/>
        </p:nvSpPr>
        <p:spPr>
          <a:xfrm>
            <a:off x="5907024" y="2825496"/>
            <a:ext cx="182880" cy="219456"/>
          </a:xfrm>
          <a:prstGeom prst="rightArrow">
            <a:avLst/>
          </a:prstGeom>
          <a:solidFill>
            <a:srgbClr val="5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ight Arrow 45"/>
          <p:cNvSpPr/>
          <p:nvPr/>
        </p:nvSpPr>
        <p:spPr>
          <a:xfrm>
            <a:off x="8714232" y="2825496"/>
            <a:ext cx="182880" cy="219456"/>
          </a:xfrm>
          <a:prstGeom prst="rightArrow">
            <a:avLst/>
          </a:prstGeom>
          <a:solidFill>
            <a:srgbClr val="5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ight Arrow 46"/>
          <p:cNvSpPr/>
          <p:nvPr/>
        </p:nvSpPr>
        <p:spPr>
          <a:xfrm>
            <a:off x="3099816" y="3886200"/>
            <a:ext cx="182880" cy="219456"/>
          </a:xfrm>
          <a:prstGeom prst="rightArrow">
            <a:avLst/>
          </a:prstGeom>
          <a:solidFill>
            <a:srgbClr val="5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ight Arrow 47"/>
          <p:cNvSpPr/>
          <p:nvPr/>
        </p:nvSpPr>
        <p:spPr>
          <a:xfrm>
            <a:off x="5907024" y="3886200"/>
            <a:ext cx="182880" cy="219456"/>
          </a:xfrm>
          <a:prstGeom prst="rightArrow">
            <a:avLst/>
          </a:prstGeom>
          <a:solidFill>
            <a:srgbClr val="5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ight Arrow 48"/>
          <p:cNvSpPr/>
          <p:nvPr/>
        </p:nvSpPr>
        <p:spPr>
          <a:xfrm>
            <a:off x="8714232" y="3886200"/>
            <a:ext cx="182880" cy="219456"/>
          </a:xfrm>
          <a:prstGeom prst="rightArrow">
            <a:avLst/>
          </a:prstGeom>
          <a:solidFill>
            <a:srgbClr val="5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Down Arrow 49"/>
          <p:cNvSpPr/>
          <p:nvPr/>
        </p:nvSpPr>
        <p:spPr>
          <a:xfrm>
            <a:off x="10122408" y="2249424"/>
            <a:ext cx="219456" cy="182880"/>
          </a:xfrm>
          <a:prstGeom prst="downArrow">
            <a:avLst/>
          </a:prstGeom>
          <a:solidFill>
            <a:srgbClr val="5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Down Arrow 50"/>
          <p:cNvSpPr/>
          <p:nvPr/>
        </p:nvSpPr>
        <p:spPr>
          <a:xfrm>
            <a:off x="10122408" y="3310127"/>
            <a:ext cx="219456" cy="182880"/>
          </a:xfrm>
          <a:prstGeom prst="downArrow">
            <a:avLst/>
          </a:prstGeom>
          <a:solidFill>
            <a:srgbClr val="5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02920" y="4709160"/>
            <a:ext cx="11192256" cy="1051560"/>
          </a:xfrm>
          <a:prstGeom prst="roundRect">
            <a:avLst/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13232" y="479145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12A40"/>
                </a:solidFill>
                <a:latin typeface="Segoe UI"/>
              </a:rPr>
              <a:t>SIDE-STATES (reachable from any active status)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13232" y="5138928"/>
            <a:ext cx="146304" cy="457200"/>
          </a:xfrm>
          <a:prstGeom prst="roundRect">
            <a:avLst/>
          </a:prstGeom>
          <a:solidFill>
            <a:srgbClr val="C05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69264" y="5120640"/>
            <a:ext cx="3383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>
                <a:solidFill>
                  <a:srgbClr val="1A2530"/>
                </a:solidFill>
                <a:latin typeface="Segoe UI"/>
              </a:rPr>
              <a:t>Rejected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5A6B78"/>
                </a:solidFill>
                <a:latin typeface="Segoe UI"/>
              </a:rPr>
              <a:t>returns to previous status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416552" y="5138928"/>
            <a:ext cx="146304" cy="457200"/>
          </a:xfrm>
          <a:prstGeom prst="round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672584" y="5120640"/>
            <a:ext cx="3383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>
                <a:solidFill>
                  <a:srgbClr val="1A2530"/>
                </a:solidFill>
                <a:latin typeface="Segoe UI"/>
              </a:rPr>
              <a:t>Clarification_Sought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5A6B78"/>
                </a:solidFill>
                <a:latin typeface="Segoe UI"/>
              </a:rPr>
              <a:t>pauses, resumes when resolved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119871" y="5138928"/>
            <a:ext cx="146304" cy="457200"/>
          </a:xfrm>
          <a:prstGeom prst="roundRect">
            <a:avLst/>
          </a:prstGeom>
          <a:solidFill>
            <a:srgbClr val="5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375903" y="5120640"/>
            <a:ext cx="3383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>
                <a:solidFill>
                  <a:srgbClr val="1A2530"/>
                </a:solidFill>
                <a:latin typeface="Segoe UI"/>
              </a:rPr>
              <a:t>Auto_Closed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5A6B78"/>
                </a:solidFill>
                <a:latin typeface="Segoe UI"/>
              </a:rPr>
              <a:t>auto-closed after SLA lapse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945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0912F"/>
                </a:solidFill>
                <a:latin typeface="Segoe UI"/>
              </a:rPr>
              <a:t>04 · BUSINESS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11155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 Semibold"/>
              </a:rPr>
              <a:t>Automated gates govern every settlement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B9C7D2"/>
                </a:solidFill>
                <a:latin typeface="Segoe UI"/>
              </a:rPr>
              <a:t>Customer Complaint Management System  ·  Orient Paper &amp; Mill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280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E0912F"/>
                </a:solidFill>
                <a:latin typeface="Segoe UI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A2530"/>
                </a:solidFill>
                <a:latin typeface="Segoe UI"/>
              </a:rPr>
              <a:t>Gates are evaluated by the engine — not left to the user. They fire automatically from the complaint's own data, so approvals can never be skipped.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286000"/>
            <a:ext cx="5504688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2286000"/>
            <a:ext cx="109728" cy="1691640"/>
          </a:xfrm>
          <a:prstGeom prst="roundRect">
            <a:avLst/>
          </a:prstGeom>
          <a:solidFill>
            <a:srgbClr val="1F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90288" y="250545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1F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2505456"/>
            <a:ext cx="11887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QC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542032"/>
            <a:ext cx="36758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12A40"/>
                </a:solidFill>
                <a:latin typeface="Segoe UI Semibold"/>
              </a:rPr>
              <a:t>Sample 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063240"/>
            <a:ext cx="495604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B78"/>
                </a:solidFill>
                <a:latin typeface="Segoe UI"/>
              </a:rPr>
              <a:t>QC_Review cannot be approved until the physical sample status is Received or beyond.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0488" y="2286000"/>
            <a:ext cx="5504688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90488" y="2286000"/>
            <a:ext cx="109728" cy="1691640"/>
          </a:xfrm>
          <a:prstGeom prst="roundRect">
            <a:avLst/>
          </a:prstGeom>
          <a:solidFill>
            <a:srgbClr val="C05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277855" y="250545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05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77855" y="2505456"/>
            <a:ext cx="11887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MD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7" y="2542032"/>
            <a:ext cx="36758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12A40"/>
                </a:solidFill>
                <a:latin typeface="Segoe UI Semibold"/>
              </a:rPr>
              <a:t>MD Approval Gate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0527" y="3063240"/>
            <a:ext cx="495604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B78"/>
                </a:solidFill>
                <a:latin typeface="Segoe UI"/>
              </a:rPr>
              <a:t>Triggered when settlement &gt; ₹1,00,000, or a sales-policy breach forces MD sign-off.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178808"/>
            <a:ext cx="5504688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2920" y="4178808"/>
            <a:ext cx="109728" cy="1691640"/>
          </a:xfrm>
          <a:prstGeom prst="round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590288" y="4398264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90288" y="4398264"/>
            <a:ext cx="11887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Sales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434840"/>
            <a:ext cx="36758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12A40"/>
                </a:solidFill>
                <a:latin typeface="Segoe UI Semibold"/>
              </a:rPr>
              <a:t>Visit 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4956048"/>
            <a:ext cx="495604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B78"/>
                </a:solidFill>
                <a:latin typeface="Segoe UI"/>
              </a:rPr>
              <a:t>Triggered when the customer is a key account, or settlement &gt; ₹50,000.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90488" y="4178808"/>
            <a:ext cx="5504688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190488" y="4178808"/>
            <a:ext cx="109728" cy="1691640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0277855" y="4398264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77855" y="4398264"/>
            <a:ext cx="11887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Finance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10527" y="4434840"/>
            <a:ext cx="36758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12A40"/>
                </a:solidFill>
                <a:latin typeface="Segoe UI Semibold"/>
              </a:rPr>
              <a:t>Finance Gate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10527" y="4956048"/>
            <a:ext cx="495604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B78"/>
                </a:solidFill>
                <a:latin typeface="Segoe UI"/>
              </a:rPr>
              <a:t>A complaint cannot reach Closed until a SAP Credit Note number exists in CCMS.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945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0912F"/>
                </a:solidFill>
                <a:latin typeface="Segoe UI"/>
              </a:rPr>
              <a:t>05 ·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11155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 Semibold"/>
              </a:rPr>
              <a:t>SAP S/4HANA — 6 integration touchpoints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B9C7D2"/>
                </a:solidFill>
                <a:latin typeface="Segoe UI"/>
              </a:rPr>
              <a:t>Customer Complaint Management System  ·  Orient Paper &amp; Mill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280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E0912F"/>
                </a:solidFill>
                <a:latin typeface="Segoe UI"/>
              </a:rPr>
              <a:t>09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11192256" cy="457200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63040"/>
            <a:ext cx="50291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Segoe UI Semibold"/>
              </a:rPr>
              <a:t>#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1463040"/>
            <a:ext cx="3520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Segoe UI Semibold"/>
              </a:rPr>
              <a:t>Touchpoint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1463040"/>
            <a:ext cx="2057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Segoe UI Semibold"/>
              </a:rPr>
              <a:t>Direction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1463040"/>
            <a:ext cx="17830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Segoe UI Semibold"/>
              </a:rPr>
              <a:t>Mode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60" y="1463040"/>
            <a:ext cx="264261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Segoe UI Semibold"/>
              </a:rPr>
              <a:t>SAP API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1920240"/>
            <a:ext cx="11192256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1920240"/>
            <a:ext cx="50291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A6B78"/>
                </a:solidFill>
                <a:latin typeface="Segoe U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1920240"/>
            <a:ext cx="3520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2530"/>
                </a:solidFill>
                <a:latin typeface="Segoe UI"/>
              </a:rPr>
              <a:t>Invoice lookup (qty, price)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1920240"/>
            <a:ext cx="2057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F8A80"/>
                </a:solidFill>
                <a:latin typeface="Segoe UI"/>
              </a:rPr>
              <a:t>SAP → CCMS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1920240"/>
            <a:ext cx="1783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B78"/>
                </a:solidFill>
                <a:latin typeface="Segoe UI"/>
              </a:rPr>
              <a:t>Real-time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1920240"/>
            <a:ext cx="264261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B78"/>
                </a:solidFill>
                <a:latin typeface="Segoe UI"/>
              </a:rPr>
              <a:t>API_BILLING_DOCUMENT_SRV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487168"/>
            <a:ext cx="11192256" cy="566928"/>
          </a:xfrm>
          <a:prstGeom prst="rect">
            <a:avLst/>
          </a:prstGeom>
          <a:solidFill>
            <a:srgbClr val="EEF2F5"/>
          </a:solidFill>
          <a:ln w="6350">
            <a:solidFill>
              <a:srgbClr val="D5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2487168"/>
            <a:ext cx="50291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A6B78"/>
                </a:solidFill>
                <a:latin typeface="Segoe U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2487168"/>
            <a:ext cx="3520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2530"/>
                </a:solidFill>
                <a:latin typeface="Segoe UI"/>
              </a:rPr>
              <a:t>Customer / Distributor master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60" y="2487168"/>
            <a:ext cx="2057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F8A80"/>
                </a:solidFill>
                <a:latin typeface="Segoe UI"/>
              </a:rPr>
              <a:t>SAP → CCMS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0" y="2487168"/>
            <a:ext cx="1783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B78"/>
                </a:solidFill>
                <a:latin typeface="Segoe UI"/>
              </a:rPr>
              <a:t>Nightly batch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2560" y="2487168"/>
            <a:ext cx="264261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B78"/>
                </a:solidFill>
                <a:latin typeface="Segoe UI"/>
              </a:rPr>
              <a:t>API_BUSINESS_PARTNER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054096"/>
            <a:ext cx="11192256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3054096"/>
            <a:ext cx="50291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A6B78"/>
                </a:solidFill>
                <a:latin typeface="Segoe UI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80160" y="3054096"/>
            <a:ext cx="3520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2530"/>
                </a:solidFill>
                <a:latin typeface="Segoe UI"/>
              </a:rPr>
              <a:t>Product / SKU master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37760" y="3054096"/>
            <a:ext cx="2057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F8A80"/>
                </a:solidFill>
                <a:latin typeface="Segoe UI"/>
              </a:rPr>
              <a:t>SAP → CCMS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0" y="3054096"/>
            <a:ext cx="1783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B78"/>
                </a:solidFill>
                <a:latin typeface="Segoe UI"/>
              </a:rPr>
              <a:t>Nightly batch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2560" y="3054096"/>
            <a:ext cx="264261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B78"/>
                </a:solidFill>
                <a:latin typeface="Segoe UI"/>
              </a:rPr>
              <a:t>API_PRODUCT_SRV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3621024"/>
            <a:ext cx="11192256" cy="566928"/>
          </a:xfrm>
          <a:prstGeom prst="rect">
            <a:avLst/>
          </a:prstGeom>
          <a:solidFill>
            <a:srgbClr val="EEF2F5"/>
          </a:solidFill>
          <a:ln w="6350">
            <a:solidFill>
              <a:srgbClr val="D5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3621024"/>
            <a:ext cx="50291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A6B78"/>
                </a:solidFill>
                <a:latin typeface="Segoe UI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3621024"/>
            <a:ext cx="3520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2530"/>
                </a:solidFill>
                <a:latin typeface="Segoe UI"/>
              </a:rPr>
              <a:t>Sales policy / pricing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37760" y="3621024"/>
            <a:ext cx="2057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F8A80"/>
                </a:solidFill>
                <a:latin typeface="Segoe UI"/>
              </a:rPr>
              <a:t>SAP → CCMS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32320" y="3621024"/>
            <a:ext cx="1783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B78"/>
                </a:solidFill>
                <a:latin typeface="Segoe UI"/>
              </a:rPr>
              <a:t>Nightly batch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3621024"/>
            <a:ext cx="264261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B78"/>
                </a:solidFill>
                <a:latin typeface="Segoe UI"/>
              </a:rPr>
              <a:t>API_SLSPRICINGCONDITIONRECORD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187952"/>
            <a:ext cx="11192256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4187952"/>
            <a:ext cx="50291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A6B78"/>
                </a:solidFill>
                <a:latin typeface="Segoe UI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80160" y="4187952"/>
            <a:ext cx="3520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2530"/>
                </a:solidFill>
                <a:latin typeface="Segoe UI"/>
              </a:rPr>
              <a:t>Credit Note creation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37760" y="4187952"/>
            <a:ext cx="2057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0912F"/>
                </a:solidFill>
                <a:latin typeface="Segoe UI"/>
              </a:rPr>
              <a:t>CCMS → SAP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32320" y="4187952"/>
            <a:ext cx="1783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B78"/>
                </a:solidFill>
                <a:latin typeface="Segoe UI"/>
              </a:rPr>
              <a:t>Real-time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52560" y="4187952"/>
            <a:ext cx="264261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B78"/>
                </a:solidFill>
                <a:latin typeface="Segoe UI"/>
              </a:rPr>
              <a:t>API_SALES_ORDER_SRV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4754880"/>
            <a:ext cx="11192256" cy="566928"/>
          </a:xfrm>
          <a:prstGeom prst="rect">
            <a:avLst/>
          </a:prstGeom>
          <a:solidFill>
            <a:srgbClr val="EEF2F5"/>
          </a:solidFill>
          <a:ln w="6350">
            <a:solidFill>
              <a:srgbClr val="D5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" y="4754880"/>
            <a:ext cx="50291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A6B78"/>
                </a:solidFill>
                <a:latin typeface="Segoe UI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80160" y="4754880"/>
            <a:ext cx="3520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2530"/>
                </a:solidFill>
                <a:latin typeface="Segoe UI"/>
              </a:rPr>
              <a:t>Credit Note write-back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37760" y="4754880"/>
            <a:ext cx="2057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F8A80"/>
                </a:solidFill>
                <a:latin typeface="Segoe UI"/>
              </a:rPr>
              <a:t>SAP → CCMS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132320" y="4754880"/>
            <a:ext cx="1783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B78"/>
                </a:solidFill>
                <a:latin typeface="Segoe UI"/>
              </a:rPr>
              <a:t>Real-time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52560" y="4754880"/>
            <a:ext cx="264261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B78"/>
                </a:solidFill>
                <a:latin typeface="Segoe UI"/>
              </a:rPr>
              <a:t>response to #5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5458968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12A40"/>
                </a:solidFill>
                <a:latin typeface="Segoe UI"/>
              </a:rPr>
              <a:t>Mock / live switch:  </a:t>
            </a:r>
            <a:r>
              <a:rPr sz="1150" b="0">
                <a:solidFill>
                  <a:srgbClr val="5A6B78"/>
                </a:solidFill>
                <a:latin typeface="Segoe UI"/>
              </a:rPr>
              <a:t>the whole demo runs in MOCK mode with realistic SAP responses; a single .env flag (SAP_USE_MOCK=false) points it at a real gateway — zero code changes.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945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0912F"/>
                </a:solidFill>
                <a:latin typeface="Segoe UI"/>
              </a:rPr>
              <a:t>06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11155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 Semibold"/>
              </a:rPr>
              <a:t>Security &amp; access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B9C7D2"/>
                </a:solidFill>
                <a:latin typeface="Segoe UI"/>
              </a:rPr>
              <a:t>Customer Complaint Management System  ·  Orient Paper &amp; Mill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280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E0912F"/>
                </a:solidFill>
                <a:latin typeface="Segoe U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81328"/>
            <a:ext cx="550468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627632"/>
            <a:ext cx="73152" cy="1280160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1664208"/>
            <a:ext cx="5047488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12A40"/>
                </a:solidFill>
                <a:latin typeface="Segoe UI Semibold"/>
              </a:rPr>
              <a:t>Authentication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B78"/>
                </a:solidFill>
                <a:latin typeface="Segoe UI"/>
              </a:rPr>
              <a:t>JWT issued on login, carried in an httpOnly cookie (8-hour expiry); logout revokes the token server-side.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0488" y="1481328"/>
            <a:ext cx="550468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0488" y="1627632"/>
            <a:ext cx="73152" cy="1280160"/>
          </a:xfrm>
          <a:prstGeom prst="rect">
            <a:avLst/>
          </a:prstGeom>
          <a:solidFill>
            <a:srgbClr val="1F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664208"/>
            <a:ext cx="5047488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12A40"/>
                </a:solidFill>
                <a:latin typeface="Segoe UI Semibold"/>
              </a:rPr>
              <a:t>Role-Based Access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B78"/>
                </a:solidFill>
                <a:latin typeface="Segoe UI"/>
              </a:rPr>
              <a:t>12 roles; every workflow action is checked against the role allowed to act at that stage — wrong role is refused with 403.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236976"/>
            <a:ext cx="550468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3383280"/>
            <a:ext cx="73152" cy="1280160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3419856"/>
            <a:ext cx="5047488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12A40"/>
                </a:solidFill>
                <a:latin typeface="Segoe UI Semibold"/>
              </a:rPr>
              <a:t>Read Scoping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B78"/>
                </a:solidFill>
                <a:latin typeface="Segoe UI"/>
              </a:rPr>
              <a:t>Enforced by the API, not the UI: a junior role only ever receives the complaints in its own queue.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0488" y="3236976"/>
            <a:ext cx="550468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0488" y="3383280"/>
            <a:ext cx="73152" cy="1280160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19856"/>
            <a:ext cx="5047488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12A40"/>
                </a:solidFill>
                <a:latin typeface="Segoe UI Semibold"/>
              </a:rPr>
              <a:t>Immutable Audit Log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B78"/>
                </a:solidFill>
                <a:latin typeface="Segoe UI"/>
              </a:rPr>
              <a:t>Every human and system action is logged, checksummed and append-only — verified tamper-free at runtime.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828032"/>
            <a:ext cx="11192256" cy="960120"/>
          </a:xfrm>
          <a:prstGeom prst="round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90118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0912F"/>
                </a:solidFill>
                <a:latin typeface="Segoe UI"/>
              </a:rPr>
              <a:t>DEFENCE IN DEPTH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5230368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230368"/>
            <a:ext cx="26060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Helmet headers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74720" y="5230368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0" y="5230368"/>
            <a:ext cx="26060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CORS + credentials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5230368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0" y="5230368"/>
            <a:ext cx="26060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bcrypt password hashing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61120" y="5230368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61120" y="5230368"/>
            <a:ext cx="26060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Rate limiting (global + auth)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1520" y="5614416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5614416"/>
            <a:ext cx="26060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Input validation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474720" y="5614416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74720" y="5614416"/>
            <a:ext cx="26060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HTTPS enforced in prod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5614416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17920" y="5614416"/>
            <a:ext cx="26060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Frozen client config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61120" y="5614416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61120" y="5614416"/>
            <a:ext cx="26060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Path-traversal guards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945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0912F"/>
                </a:solidFill>
                <a:latin typeface="Segoe UI"/>
              </a:rPr>
              <a:t>06 · ROLES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11155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 Semibold"/>
              </a:rPr>
              <a:t>Twelve role-based portals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B9C7D2"/>
                </a:solidFill>
                <a:latin typeface="Segoe UI"/>
              </a:rPr>
              <a:t>Customer Complaint Management System  ·  Orient Paper &amp; Mill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280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E0912F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371600"/>
            <a:ext cx="11155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A2530"/>
                </a:solidFill>
                <a:latin typeface="Segoe UI"/>
              </a:rPr>
              <a:t>Each role signs into its own portal — its own accent colour, navigation, and action queue.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965960"/>
            <a:ext cx="3630168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965960"/>
            <a:ext cx="128016" cy="896112"/>
          </a:xfrm>
          <a:prstGeom prst="round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" y="2084831"/>
            <a:ext cx="3172968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112A40"/>
                </a:solidFill>
                <a:latin typeface="Segoe UI Semibold"/>
              </a:rPr>
              <a:t>TS Officer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A6B78"/>
                </a:solidFill>
                <a:latin typeface="Segoe UI"/>
              </a:rPr>
              <a:t>Creates &amp; forwards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965960"/>
            <a:ext cx="3630168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297680" y="1965960"/>
            <a:ext cx="128016" cy="896112"/>
          </a:xfrm>
          <a:prstGeom prst="round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08576" y="2084831"/>
            <a:ext cx="3172968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112A40"/>
                </a:solidFill>
                <a:latin typeface="Segoe UI Semibold"/>
              </a:rPr>
              <a:t>TS Head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A6B78"/>
                </a:solidFill>
                <a:latin typeface="Segoe UI"/>
              </a:rPr>
              <a:t>Approves TS_Review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965960"/>
            <a:ext cx="3630168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92440" y="1965960"/>
            <a:ext cx="128016" cy="896112"/>
          </a:xfrm>
          <a:prstGeom prst="roundRect">
            <a:avLst/>
          </a:prstGeom>
          <a:solidFill>
            <a:srgbClr val="1F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03336" y="2084831"/>
            <a:ext cx="3172968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112A40"/>
                </a:solidFill>
                <a:latin typeface="Segoe UI Semibold"/>
              </a:rPr>
              <a:t>QC Analyst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A6B78"/>
                </a:solidFill>
                <a:latin typeface="Segoe UI"/>
              </a:rPr>
              <a:t>Logs &amp; tests samples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008376"/>
            <a:ext cx="3630168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920" y="3008376"/>
            <a:ext cx="128016" cy="896112"/>
          </a:xfrm>
          <a:prstGeom prst="roundRect">
            <a:avLst/>
          </a:prstGeom>
          <a:solidFill>
            <a:srgbClr val="1F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" y="3127248"/>
            <a:ext cx="3172968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112A40"/>
                </a:solidFill>
                <a:latin typeface="Segoe UI Semibold"/>
              </a:rPr>
              <a:t>QC Manager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A6B78"/>
                </a:solidFill>
                <a:latin typeface="Segoe UI"/>
              </a:rPr>
              <a:t>Approves QC_Review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3008376"/>
            <a:ext cx="3630168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297680" y="3008376"/>
            <a:ext cx="128016" cy="896112"/>
          </a:xfrm>
          <a:prstGeom prst="round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08576" y="3127248"/>
            <a:ext cx="3172968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112A40"/>
                </a:solidFill>
                <a:latin typeface="Segoe UI Semibold"/>
              </a:rPr>
              <a:t>Operations Analyst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A6B78"/>
                </a:solidFill>
                <a:latin typeface="Segoe UI"/>
              </a:rPr>
              <a:t>Documents CAPA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2440" y="3008376"/>
            <a:ext cx="3630168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092440" y="3008376"/>
            <a:ext cx="128016" cy="896112"/>
          </a:xfrm>
          <a:prstGeom prst="round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03336" y="3127248"/>
            <a:ext cx="3172968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112A40"/>
                </a:solidFill>
                <a:latin typeface="Segoe UI Semibold"/>
              </a:rPr>
              <a:t>Operations Head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A6B78"/>
                </a:solidFill>
                <a:latin typeface="Segoe UI"/>
              </a:rPr>
              <a:t>Approves Ops stage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050791"/>
            <a:ext cx="3630168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02920" y="4050791"/>
            <a:ext cx="128016" cy="896112"/>
          </a:xfrm>
          <a:prstGeom prst="roundRect">
            <a:avLst/>
          </a:prstGeom>
          <a:solidFill>
            <a:srgbClr val="B56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3816" y="4169663"/>
            <a:ext cx="3172968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112A40"/>
                </a:solidFill>
                <a:latin typeface="Segoe UI Semibold"/>
              </a:rPr>
              <a:t>Product Manager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A6B78"/>
                </a:solidFill>
                <a:latin typeface="Segoe UI"/>
              </a:rPr>
              <a:t>Marketing review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80" y="4050791"/>
            <a:ext cx="3630168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297680" y="4050791"/>
            <a:ext cx="128016" cy="896112"/>
          </a:xfrm>
          <a:prstGeom prst="roundRect">
            <a:avLst/>
          </a:prstGeom>
          <a:solidFill>
            <a:srgbClr val="B56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08576" y="4169663"/>
            <a:ext cx="3172968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112A40"/>
                </a:solidFill>
                <a:latin typeface="Segoe UI Semibold"/>
              </a:rPr>
              <a:t>Marketing Head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A6B78"/>
                </a:solidFill>
                <a:latin typeface="Segoe UI"/>
              </a:rPr>
              <a:t>Approves Marketing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92440" y="4050791"/>
            <a:ext cx="3630168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092440" y="4050791"/>
            <a:ext cx="128016" cy="896112"/>
          </a:xfrm>
          <a:prstGeom prst="roundRect">
            <a:avLst/>
          </a:prstGeom>
          <a:solidFill>
            <a:srgbClr val="C05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03336" y="4169663"/>
            <a:ext cx="3172968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112A40"/>
                </a:solidFill>
                <a:latin typeface="Segoe UI Semibold"/>
              </a:rPr>
              <a:t>Managing Director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A6B78"/>
                </a:solidFill>
                <a:latin typeface="Segoe UI"/>
              </a:rPr>
              <a:t>High-value / breach sign-off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093208"/>
            <a:ext cx="3630168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502920" y="5093208"/>
            <a:ext cx="128016" cy="896112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3816" y="5212080"/>
            <a:ext cx="3172968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112A40"/>
                </a:solidFill>
                <a:latin typeface="Segoe UI Semibold"/>
              </a:rPr>
              <a:t>Finance Officer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A6B78"/>
                </a:solidFill>
                <a:latin typeface="Segoe UI"/>
              </a:rPr>
              <a:t>Raises Credit Note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297680" y="5093208"/>
            <a:ext cx="3630168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297680" y="5093208"/>
            <a:ext cx="128016" cy="896112"/>
          </a:xfrm>
          <a:prstGeom prst="round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08576" y="5212080"/>
            <a:ext cx="3172968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112A40"/>
                </a:solidFill>
                <a:latin typeface="Segoe UI Semibold"/>
              </a:rPr>
              <a:t>Sales / KAM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A6B78"/>
                </a:solidFill>
                <a:latin typeface="Segoe UI"/>
              </a:rPr>
              <a:t>Customer visits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092440" y="5093208"/>
            <a:ext cx="3630168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8092440" y="5093208"/>
            <a:ext cx="128016" cy="896112"/>
          </a:xfrm>
          <a:prstGeom prst="roundRect">
            <a:avLst/>
          </a:prstGeom>
          <a:solidFill>
            <a:srgbClr val="33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03336" y="5212080"/>
            <a:ext cx="3172968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112A40"/>
                </a:solidFill>
                <a:latin typeface="Segoe UI Semibold"/>
              </a:rPr>
              <a:t>Administrator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A6B78"/>
                </a:solidFill>
                <a:latin typeface="Segoe UI"/>
              </a:rPr>
              <a:t>Full access, all stages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945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0912F"/>
                </a:solidFill>
                <a:latin typeface="Segoe UI"/>
              </a:rPr>
              <a:t>07 · THE APPLICATION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11155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 Semibold"/>
              </a:rPr>
              <a:t>Product screens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B9C7D2"/>
                </a:solidFill>
                <a:latin typeface="Segoe UI"/>
              </a:rPr>
              <a:t>Customer Complaint Management System  ·  Orient Paper &amp; Mill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280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E0912F"/>
                </a:solidFill>
                <a:latin typeface="Segoe UI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17320"/>
            <a:ext cx="36118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humb_01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527048"/>
            <a:ext cx="3392424" cy="1833742"/>
          </a:xfrm>
          <a:prstGeom prst="rect">
            <a:avLst/>
          </a:prstGeom>
          <a:ln w="9525">
            <a:solidFill>
              <a:srgbClr val="D5DDE3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667512" y="3379078"/>
            <a:ext cx="330098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12A40"/>
                </a:solidFill>
                <a:latin typeface="Segoe UI Semibold"/>
              </a:rPr>
              <a:t>Sign in</a:t>
            </a:r>
            <a:r>
              <a:rPr sz="900" b="0">
                <a:solidFill>
                  <a:srgbClr val="5A6B78"/>
                </a:solidFill>
                <a:latin typeface="Segoe UI"/>
              </a:rPr>
              <a:t>   One system, a portal per role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1417320"/>
            <a:ext cx="36118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thumb_02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8264" y="1527048"/>
            <a:ext cx="3392424" cy="1833742"/>
          </a:xfrm>
          <a:prstGeom prst="rect">
            <a:avLst/>
          </a:prstGeom>
          <a:ln w="9525">
            <a:solidFill>
              <a:srgbClr val="D5DDE3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4453128" y="3379078"/>
            <a:ext cx="330098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12A40"/>
                </a:solidFill>
                <a:latin typeface="Segoe UI Semibold"/>
              </a:rPr>
              <a:t>Dashboard</a:t>
            </a:r>
            <a:r>
              <a:rPr sz="900" b="0">
                <a:solidFill>
                  <a:srgbClr val="5A6B78"/>
                </a:solidFill>
                <a:latin typeface="Segoe UI"/>
              </a:rPr>
              <a:t>   Your action queue, KPIs first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4152" y="1417320"/>
            <a:ext cx="36118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thumb_03-complain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80" y="1527048"/>
            <a:ext cx="3392424" cy="1833742"/>
          </a:xfrm>
          <a:prstGeom prst="rect">
            <a:avLst/>
          </a:prstGeom>
          <a:ln w="9525">
            <a:solidFill>
              <a:srgbClr val="D5DDE3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8238744" y="3379078"/>
            <a:ext cx="330098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12A40"/>
                </a:solidFill>
                <a:latin typeface="Segoe UI Semibold"/>
              </a:rPr>
              <a:t>Complaints</a:t>
            </a:r>
            <a:r>
              <a:rPr sz="900" b="0">
                <a:solidFill>
                  <a:srgbClr val="5A6B78"/>
                </a:solidFill>
                <a:latin typeface="Segoe UI"/>
              </a:rPr>
              <a:t>   Scoped to what you may see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995928"/>
            <a:ext cx="36118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thumb_05-new-complai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" y="4105656"/>
            <a:ext cx="3392424" cy="1833742"/>
          </a:xfrm>
          <a:prstGeom prst="rect">
            <a:avLst/>
          </a:prstGeom>
          <a:ln w="9525">
            <a:solidFill>
              <a:srgbClr val="D5DDE3"/>
            </a:solidFill>
          </a:ln>
        </p:spPr>
      </p:pic>
      <p:sp>
        <p:nvSpPr>
          <p:cNvPr id="20" name="TextBox 19"/>
          <p:cNvSpPr txBox="1"/>
          <p:nvPr/>
        </p:nvSpPr>
        <p:spPr>
          <a:xfrm>
            <a:off x="667512" y="5957686"/>
            <a:ext cx="330098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12A40"/>
                </a:solidFill>
                <a:latin typeface="Segoe UI Semibold"/>
              </a:rPr>
              <a:t>New complaint</a:t>
            </a:r>
            <a:r>
              <a:rPr sz="900" b="0">
                <a:solidFill>
                  <a:srgbClr val="5A6B78"/>
                </a:solidFill>
                <a:latin typeface="Segoe UI"/>
              </a:rPr>
              <a:t>   Invoice pulled live from SAP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8536" y="3995928"/>
            <a:ext cx="36118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thumb_04-complaint-detai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98264" y="4105656"/>
            <a:ext cx="3392424" cy="1833742"/>
          </a:xfrm>
          <a:prstGeom prst="rect">
            <a:avLst/>
          </a:prstGeom>
          <a:ln w="9525">
            <a:solidFill>
              <a:srgbClr val="D5DDE3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4453128" y="5957686"/>
            <a:ext cx="330098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12A40"/>
                </a:solidFill>
                <a:latin typeface="Segoe UI Semibold"/>
              </a:rPr>
              <a:t>Complaint detail</a:t>
            </a:r>
            <a:r>
              <a:rPr sz="900" b="0">
                <a:solidFill>
                  <a:srgbClr val="5A6B78"/>
                </a:solidFill>
                <a:latin typeface="Segoe UI"/>
              </a:rPr>
              <a:t>   The whole journey on one page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74152" y="3995928"/>
            <a:ext cx="36118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thumb_06-audit-log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83880" y="4105656"/>
            <a:ext cx="3392424" cy="1833742"/>
          </a:xfrm>
          <a:prstGeom prst="rect">
            <a:avLst/>
          </a:prstGeom>
          <a:ln w="9525">
            <a:solidFill>
              <a:srgbClr val="D5DDE3"/>
            </a:solidFill>
          </a:ln>
        </p:spPr>
      </p:pic>
      <p:sp>
        <p:nvSpPr>
          <p:cNvPr id="26" name="TextBox 25"/>
          <p:cNvSpPr txBox="1"/>
          <p:nvPr/>
        </p:nvSpPr>
        <p:spPr>
          <a:xfrm>
            <a:off x="8238744" y="5957686"/>
            <a:ext cx="330098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12A40"/>
                </a:solidFill>
                <a:latin typeface="Segoe UI Semibold"/>
              </a:rPr>
              <a:t>Audit log</a:t>
            </a:r>
            <a:r>
              <a:rPr sz="900" b="0">
                <a:solidFill>
                  <a:srgbClr val="5A6B78"/>
                </a:solidFill>
                <a:latin typeface="Segoe UI"/>
              </a:rPr>
              <a:t>   Every action, append-only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945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0912F"/>
                </a:solidFill>
                <a:latin typeface="Segoe UI"/>
              </a:rPr>
              <a:t>07 · 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11155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 Semibold"/>
              </a:rPr>
              <a:t>Tested &amp; verified end-to-end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B9C7D2"/>
                </a:solidFill>
                <a:latin typeface="Segoe UI"/>
              </a:rPr>
              <a:t>Customer Complaint Management System  ·  Orient Paper &amp; Mill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280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E0912F"/>
                </a:solidFill>
                <a:latin typeface="Segoe UI"/>
              </a:rP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81328"/>
            <a:ext cx="26517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481328"/>
            <a:ext cx="2651760" cy="109728"/>
          </a:xfrm>
          <a:prstGeom prst="roundRect">
            <a:avLst/>
          </a:prstGeom>
          <a:solidFill>
            <a:srgbClr val="1F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645920"/>
            <a:ext cx="26517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112A40"/>
                </a:solidFill>
                <a:latin typeface="Segoe UI Semibold"/>
              </a:rPr>
              <a:t>32 / 32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331720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A6B78"/>
                </a:solidFill>
                <a:latin typeface="Segoe UI"/>
              </a:rPr>
              <a:t>unit tests passing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9272" y="1481328"/>
            <a:ext cx="26517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319272" y="1481328"/>
            <a:ext cx="2651760" cy="109728"/>
          </a:xfrm>
          <a:prstGeom prst="round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19272" y="1645920"/>
            <a:ext cx="26517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112A40"/>
                </a:solidFill>
                <a:latin typeface="Segoe UI Semibold"/>
              </a:rPr>
              <a:t>12 → Closed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19272" y="2331720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A6B78"/>
                </a:solidFill>
                <a:latin typeface="Segoe UI"/>
              </a:rPr>
              <a:t>full lifecycle driven live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35624" y="1481328"/>
            <a:ext cx="26517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35624" y="1481328"/>
            <a:ext cx="2651760" cy="109728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5624" y="1645920"/>
            <a:ext cx="26517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112A40"/>
                </a:solidFill>
                <a:latin typeface="Segoe UI Semibold"/>
              </a:rPr>
              <a:t>0 tampered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35624" y="2331720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A6B78"/>
                </a:solidFill>
                <a:latin typeface="Segoe UI"/>
              </a:rPr>
              <a:t>audit entries (integrity verified)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51976" y="1481328"/>
            <a:ext cx="26517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951976" y="1481328"/>
            <a:ext cx="2651760" cy="109728"/>
          </a:xfrm>
          <a:prstGeom prst="round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51976" y="1645920"/>
            <a:ext cx="26517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112A40"/>
                </a:solidFill>
                <a:latin typeface="Segoe UI Semibold"/>
              </a:rPr>
              <a:t>4 gates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51976" y="2331720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A6B78"/>
                </a:solidFill>
                <a:latin typeface="Segoe UI"/>
              </a:rPr>
              <a:t>enforced automatically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2971800"/>
            <a:ext cx="11192256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12724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12A40"/>
                </a:solidFill>
                <a:latin typeface="Segoe UI Semibold"/>
              </a:rPr>
              <a:t>What was verified against the live system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3611880"/>
            <a:ext cx="108813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8B57"/>
                </a:solidFill>
                <a:latin typeface="Segoe UI"/>
              </a:rPr>
              <a:t>✓  </a:t>
            </a:r>
            <a:r>
              <a:rPr sz="1200" b="0">
                <a:solidFill>
                  <a:srgbClr val="1A2530"/>
                </a:solidFill>
                <a:latin typeface="Segoe UI"/>
              </a:rPr>
              <a:t>Auth: login → JWT cookie, logout revokes, protected routes return 401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3959352"/>
            <a:ext cx="108813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8B57"/>
                </a:solidFill>
                <a:latin typeface="Segoe UI"/>
              </a:rPr>
              <a:t>✓  </a:t>
            </a:r>
            <a:r>
              <a:rPr sz="1200" b="0">
                <a:solidFill>
                  <a:srgbClr val="1A2530"/>
                </a:solidFill>
                <a:latin typeface="Segoe UI"/>
              </a:rPr>
              <a:t>Full lifecycle: Logged → … → Closed with sample, CAPA, visit &amp; credit note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4306824"/>
            <a:ext cx="108813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8B57"/>
                </a:solidFill>
                <a:latin typeface="Segoe UI"/>
              </a:rPr>
              <a:t>✓  </a:t>
            </a:r>
            <a:r>
              <a:rPr sz="1200" b="0">
                <a:solidFill>
                  <a:srgbClr val="1A2530"/>
                </a:solidFill>
                <a:latin typeface="Segoe UI"/>
              </a:rPr>
              <a:t>Sample gate blocks QC approval (422); finance gate blocks close without CN (422)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4654296"/>
            <a:ext cx="108813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8B57"/>
                </a:solidFill>
                <a:latin typeface="Segoe UI"/>
              </a:rPr>
              <a:t>✓  </a:t>
            </a:r>
            <a:r>
              <a:rPr sz="1200" b="0">
                <a:solidFill>
                  <a:srgbClr val="1A2530"/>
                </a:solidFill>
                <a:latin typeface="Segoe UI"/>
              </a:rPr>
              <a:t>RBAC: wrong-role action refused (403); read scoping limits list per role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5001768"/>
            <a:ext cx="108813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8B57"/>
                </a:solidFill>
                <a:latin typeface="Segoe UI"/>
              </a:rPr>
              <a:t>✓  </a:t>
            </a:r>
            <a:r>
              <a:rPr sz="1200" b="0">
                <a:solidFill>
                  <a:srgbClr val="1A2530"/>
                </a:solidFill>
                <a:latin typeface="Segoe UI"/>
              </a:rPr>
              <a:t>SAP touchpoints: real-time invoice lookup + credit-note push &amp; write-back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5349240"/>
            <a:ext cx="108813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8B57"/>
                </a:solidFill>
                <a:latin typeface="Segoe UI"/>
              </a:rPr>
              <a:t>✓  </a:t>
            </a:r>
            <a:r>
              <a:rPr sz="1200" b="0">
                <a:solidFill>
                  <a:srgbClr val="1A2530"/>
                </a:solidFill>
                <a:latin typeface="Segoe UI"/>
              </a:rPr>
              <a:t>Audit log: 75 entries verified append-only and tamper-free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945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0912F"/>
                </a:solidFill>
                <a:latin typeface="Segoe UI"/>
              </a:rPr>
              <a:t>07 ·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11155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 Semibold"/>
              </a:rPr>
              <a:t>Live demo walkthrough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B9C7D2"/>
                </a:solidFill>
                <a:latin typeface="Segoe UI"/>
              </a:rPr>
              <a:t>Customer Complaint Management System  ·  Orient Paper &amp; Mill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280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E0912F"/>
                </a:solidFill>
                <a:latin typeface="Segoe UI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5504688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20" y="1810512"/>
            <a:ext cx="822960" cy="822960"/>
          </a:xfrm>
          <a:prstGeom prst="ellipse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810512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0912F"/>
                </a:solidFill>
                <a:latin typeface="Segoe UI Semibol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1737360"/>
            <a:ext cx="4087368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1">
                <a:solidFill>
                  <a:srgbClr val="112A40"/>
                </a:solidFill>
                <a:latin typeface="Segoe UI Semibold"/>
              </a:rPr>
              <a:t>Sign in by role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A6B78"/>
                </a:solidFill>
                <a:latin typeface="Segoe UI"/>
              </a:rPr>
              <a:t>Show the role-specific portal, accent colour and action queue.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0488" y="1554480"/>
            <a:ext cx="5504688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19088" y="1810512"/>
            <a:ext cx="822960" cy="822960"/>
          </a:xfrm>
          <a:prstGeom prst="ellipse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1810512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0912F"/>
                </a:solidFill>
                <a:latin typeface="Segoe UI Semibol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24927" y="1737360"/>
            <a:ext cx="4087368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1">
                <a:solidFill>
                  <a:srgbClr val="112A40"/>
                </a:solidFill>
                <a:latin typeface="Segoe UI Semibold"/>
              </a:rPr>
              <a:t>Create a complaint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A6B78"/>
                </a:solidFill>
                <a:latin typeface="Segoe UI"/>
              </a:rPr>
              <a:t>Enter an invoice — SAP returns header &amp; line items in real time.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108960"/>
            <a:ext cx="5504688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3364991"/>
            <a:ext cx="822960" cy="822960"/>
          </a:xfrm>
          <a:prstGeom prst="ellipse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364991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0912F"/>
                </a:solidFill>
                <a:latin typeface="Segoe UI Semibold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3291840"/>
            <a:ext cx="4087368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1">
                <a:solidFill>
                  <a:srgbClr val="112A40"/>
                </a:solidFill>
                <a:latin typeface="Segoe UI Semibold"/>
              </a:rPr>
              <a:t>Watch the gates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A6B78"/>
                </a:solidFill>
                <a:latin typeface="Segoe UI"/>
              </a:rPr>
              <a:t>Settlement value auto-triggers MD approval and the mandatory visit.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0488" y="3108960"/>
            <a:ext cx="5504688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19088" y="3364991"/>
            <a:ext cx="822960" cy="822960"/>
          </a:xfrm>
          <a:prstGeom prst="ellipse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3364991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0912F"/>
                </a:solidFill>
                <a:latin typeface="Segoe UI Semibold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24927" y="3291840"/>
            <a:ext cx="4087368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1">
                <a:solidFill>
                  <a:srgbClr val="112A40"/>
                </a:solidFill>
                <a:latin typeface="Segoe UI Semibold"/>
              </a:rPr>
              <a:t>Move through stages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A6B78"/>
                </a:solidFill>
                <a:latin typeface="Segoe UI"/>
              </a:rPr>
              <a:t>TS → QC (sample gate) → CAPA → Ops → Marketing → MD → Visit.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663440"/>
            <a:ext cx="5504688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520" y="4919472"/>
            <a:ext cx="822960" cy="822960"/>
          </a:xfrm>
          <a:prstGeom prst="ellipse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919472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0912F"/>
                </a:solidFill>
                <a:latin typeface="Segoe UI Semibold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37360" y="4846320"/>
            <a:ext cx="4087368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1">
                <a:solidFill>
                  <a:srgbClr val="112A40"/>
                </a:solidFill>
                <a:latin typeface="Segoe UI Semibold"/>
              </a:rPr>
              <a:t>Raise the credit note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A6B78"/>
                </a:solidFill>
                <a:latin typeface="Segoe UI"/>
              </a:rPr>
              <a:t>Finance pushes to SAP; CN number is written back and complaint closes.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90488" y="4663440"/>
            <a:ext cx="5504688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19088" y="4919472"/>
            <a:ext cx="822960" cy="822960"/>
          </a:xfrm>
          <a:prstGeom prst="ellipse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9088" y="4919472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0912F"/>
                </a:solidFill>
                <a:latin typeface="Segoe UI Semibold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24927" y="4846320"/>
            <a:ext cx="4087368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1">
                <a:solidFill>
                  <a:srgbClr val="112A40"/>
                </a:solidFill>
                <a:latin typeface="Segoe UI Semibold"/>
              </a:rPr>
              <a:t>Open the audit log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A6B78"/>
                </a:solidFill>
                <a:latin typeface="Segoe UI"/>
              </a:rPr>
              <a:t>Every human &amp; system action, checksummed and append-only.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58064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12A40"/>
                </a:solidFill>
                <a:latin typeface="Segoe UI"/>
              </a:rPr>
              <a:t>Running locally:  </a:t>
            </a:r>
            <a:r>
              <a:rPr sz="1150" b="0">
                <a:solidFill>
                  <a:srgbClr val="5A6B78"/>
                </a:solidFill>
                <a:latin typeface="Segoe UI"/>
              </a:rPr>
              <a:t>frontend on http://localhost:5173   ·   API on http://localhost:3000 (MOCK SAP mode)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0912F"/>
                </a:solidFill>
                <a:latin typeface="Segoe U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10607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Segoe UI Semibold"/>
              </a:rPr>
              <a:t>A complete, governed, SAP-ready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Segoe UI Semibold"/>
              </a:rPr>
              <a:t>complaint management platform.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2944368"/>
            <a:ext cx="146304" cy="146304"/>
          </a:xfrm>
          <a:prstGeom prst="ellipse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88036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D5DEE5"/>
                </a:solidFill>
                <a:latin typeface="Segoe UI"/>
              </a:rPr>
              <a:t>Full 8-stage lifecycle with automated approval gates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3447288"/>
            <a:ext cx="146304" cy="146304"/>
          </a:xfrm>
          <a:prstGeom prst="ellipse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338328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D5DEE5"/>
                </a:solidFill>
                <a:latin typeface="Segoe UI"/>
              </a:rPr>
              <a:t>Live SAP S/4HANA integration across 6 touchpoints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3950208"/>
            <a:ext cx="146304" cy="146304"/>
          </a:xfrm>
          <a:prstGeom prst="ellipse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88620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D5DEE5"/>
                </a:solidFill>
                <a:latin typeface="Segoe UI"/>
              </a:rPr>
              <a:t>Role-based access with an immutable, verified audit trail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4453128"/>
            <a:ext cx="146304" cy="146304"/>
          </a:xfrm>
          <a:prstGeom prst="ellipse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43891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D5DEE5"/>
                </a:solidFill>
                <a:latin typeface="Segoe UI"/>
              </a:rPr>
              <a:t>Verified end-to-end — 32 tests plus a live run to closure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257800"/>
            <a:ext cx="3840480" cy="18288"/>
          </a:xfrm>
          <a:prstGeom prst="rect">
            <a:avLst/>
          </a:prstGeom>
          <a:solidFill>
            <a:srgbClr val="3A5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48640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Segoe UI Semibold"/>
              </a:rPr>
              <a:t>Thank you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B9C7D2"/>
                </a:solidFill>
                <a:latin typeface="Segoe UI"/>
              </a:rPr>
              <a:t>Keshav Raj Jain   ·   Orient Paper &amp; Mill — CCMS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509760" y="0"/>
            <a:ext cx="2681935" cy="6858000"/>
          </a:xfrm>
          <a:prstGeom prst="rect">
            <a:avLst/>
          </a:prstGeom>
          <a:solidFill>
            <a:srgbClr val="1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509760" y="0"/>
            <a:ext cx="54864" cy="6858000"/>
          </a:xfrm>
          <a:prstGeom prst="rect">
            <a:avLst/>
          </a:prstGeom>
          <a:solidFill>
            <a:srgbClr val="1F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9800" y="2286000"/>
            <a:ext cx="21945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Segoe UI Semibold"/>
              </a:rPr>
              <a:t>Q &amp; 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Segoe UI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E0912F"/>
                </a:solidFill>
                <a:latin typeface="Segoe UI"/>
              </a:rPr>
              <a:t>Questions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E0912F"/>
                </a:solidFill>
                <a:latin typeface="Segoe UI"/>
              </a:rPr>
              <a:t>welcome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