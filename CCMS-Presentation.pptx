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2" r:id="rId23"/>
    <p:sldId id="273" r:id="rId24"/>
    <p:sldId id="274" r:id="rId25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9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869680" y="0"/>
            <a:ext cx="54864" cy="685800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0" y="640080"/>
            <a:ext cx="2651760" cy="5577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E0912F"/>
                </a:solidFill>
                <a:latin typeface="Segoe UI Semibold"/>
              </a:rPr>
              <a:t>18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9C7D2"/>
                </a:solidFill>
                <a:latin typeface="Segoe UI"/>
              </a:rPr>
              <a:t>DB TABLES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E0912F"/>
                </a:solidFill>
                <a:latin typeface="Segoe UI Semibold"/>
              </a:rPr>
              <a:t>13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9C7D2"/>
                </a:solidFill>
                <a:latin typeface="Segoe UI"/>
              </a:rPr>
              <a:t>WORKFLOW STATES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E0912F"/>
                </a:solidFill>
                <a:latin typeface="Segoe UI Semibold"/>
              </a:rPr>
              <a:t>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9C7D2"/>
                </a:solidFill>
                <a:latin typeface="Segoe UI"/>
              </a:rPr>
              <a:t>SAP TOUCHPOINTS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000" b="1">
                <a:solidFill>
                  <a:srgbClr val="E0912F"/>
                </a:solidFill>
                <a:latin typeface="Segoe UI Semibold"/>
              </a:rPr>
              <a:t>12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B9C7D2"/>
                </a:solidFill>
                <a:latin typeface="Segoe UI"/>
              </a:rPr>
              <a:t>RBAC ROLES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71600"/>
            <a:ext cx="7680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0912F"/>
                </a:solidFill>
                <a:latin typeface="Segoe UI"/>
              </a:rPr>
              <a:t>ORIENT PAPER &amp; MILL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74519"/>
            <a:ext cx="7863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Customer Complaint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4400" b="1">
                <a:solidFill>
                  <a:srgbClr val="FFFFFF"/>
                </a:solidFill>
                <a:latin typeface="Segoe UI Semibold"/>
              </a:rPr>
              <a:t>Management System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794760"/>
            <a:ext cx="7589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C7D3DC"/>
                </a:solidFill>
                <a:latin typeface="Segoe UI"/>
              </a:rPr>
              <a:t>An end-to-end complaint lifecycle platform with SAP S/4HANA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C7D3DC"/>
                </a:solidFill>
                <a:latin typeface="Segoe UI"/>
              </a:rPr>
              <a:t>integration, role-based workflow, and an immutable audit trail.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074920"/>
            <a:ext cx="3108960" cy="18288"/>
          </a:xfrm>
          <a:prstGeom prst="rect">
            <a:avLst/>
          </a:prstGeom>
          <a:solidFill>
            <a:srgbClr val="3A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30352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B9C7D2"/>
                </a:solidFill>
                <a:latin typeface="Segoe UI"/>
              </a:rPr>
              <a:t>Built by  </a:t>
            </a:r>
            <a:r>
              <a:rPr sz="1600" b="1">
                <a:solidFill>
                  <a:srgbClr val="FFFFFF"/>
                </a:solidFill>
                <a:latin typeface="Segoe UI"/>
              </a:rPr>
              <a:t>Keshav Raj Jain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Project Presentation  ·  Express API + PostgreSQL + Vanilla-JS SPA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What we'll cover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148132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56362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The Problem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Why complaint handling needed a system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48132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72200" y="148132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83680" y="148132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72200" y="148132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156362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Solution &amp; Architecture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How CCMS is structured end-to-end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25856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225856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" y="225856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2585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234086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Data Model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18 tables · 9 master + 7 transactional entities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25856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72200" y="225856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0" y="225856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225856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234086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Workflow Engine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The 8-stage lifecycle and its gates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303580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502920" y="303580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14400" y="303580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303580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311810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SAP S/4HANA Integration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6 real-time &amp; batch touchpoints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303580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172200" y="303580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0" y="303580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72200" y="303580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32320" y="311810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Security &amp; Access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RBAC, JWT, and the audit trail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3813048"/>
            <a:ext cx="548640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2920" y="3813048"/>
            <a:ext cx="822960" cy="65836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4400" y="381304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3813048"/>
            <a:ext cx="8229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900" b="1">
                <a:solidFill>
                  <a:srgbClr val="E0912F"/>
                </a:solidFill>
                <a:latin typeface="Segoe UI Semibold"/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63040" y="3895344"/>
            <a:ext cx="4389120" cy="512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Verification &amp; Demo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Testing evidence and live walkthrough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3813048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6172200" y="3813048"/>
            <a:ext cx="822960" cy="658368"/>
          </a:xfrm>
          <a:prstGeom prst="roundRect">
            <a:avLst>
              <a:gd name="adj" fmla="val 10000"/>
            </a:avLst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583680" y="3813048"/>
            <a:ext cx="411480" cy="658368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172200" y="3813048"/>
            <a:ext cx="82296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900" b="1">
                <a:solidFill>
                  <a:srgbClr val="E0912F"/>
                </a:solidFill>
                <a:latin typeface="Segoe UI Semibold"/>
              </a:rPr>
              <a:t>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32320" y="3895344"/>
            <a:ext cx="438912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12A40"/>
                </a:solidFill>
                <a:latin typeface="Segoe UI Semibold"/>
              </a:rPr>
              <a:t>Notifications</a:t>
            </a:r>
          </a:p>
          <a:p>
            <a:pPr algn="l"/>
            <a:r>
              <a:rPr sz="1050" b="0">
                <a:solidFill>
                  <a:srgbClr val="5A6B78"/>
                </a:solidFill>
                <a:latin typeface="Segoe UI"/>
              </a:rPr>
              <a:t>How every stakeholder stays informed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01 · CONTEXT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The problem we set out to solve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1A2530"/>
                </a:solidFill>
                <a:latin typeface="Segoe UI"/>
              </a:rPr>
              <a:t>A paper &amp; chemical manufacturer receives complaints across many products, customers and departments — and every one carries a financial settlement that must be governed.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331720"/>
            <a:ext cx="550468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2478024"/>
            <a:ext cx="73152" cy="1307592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514600"/>
            <a:ext cx="5047488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Manual &amp; fragmented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Complaints tracked on email and spreadsheets — no single source of truth, no status visibility.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2331720"/>
            <a:ext cx="550468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0488" y="2478024"/>
            <a:ext cx="73152" cy="1307592"/>
          </a:xfrm>
          <a:prstGeom prst="rect">
            <a:avLst/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2514600"/>
            <a:ext cx="5047488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No governance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Settlement approvals had no enforced thresholds; high-value credits could slip through.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133087"/>
            <a:ext cx="550468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4279392"/>
            <a:ext cx="73152" cy="1307592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315968"/>
            <a:ext cx="5047488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Disconnected from SAP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Invoice, product and pricing data re-keyed by hand, causing errors and delays.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0488" y="4133087"/>
            <a:ext cx="5504688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0488" y="4279392"/>
            <a:ext cx="73152" cy="130759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46520" y="4315968"/>
            <a:ext cx="5047488" cy="1271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No audit trail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Impossible to prove who did what, when — a compliance and quality risk.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02 ·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CCMS in one picture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1A2530"/>
                </a:solidFill>
                <a:latin typeface="Segoe UI"/>
              </a:rPr>
              <a:t>A web platform that runs the full complaint journey — from logging to credit note — with the rules, roles and SAP links built 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1488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148840"/>
            <a:ext cx="3630168" cy="109728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24414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Full lifecycle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8 stages, Draft → Closed, enforced by a state machine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21488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97680" y="2148840"/>
            <a:ext cx="3630168" cy="109728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4414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Governed settlements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Auto-gates for MD approval, visits and finance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21488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2148840"/>
            <a:ext cx="3630168" cy="109728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2" y="24414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Live SAP data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Invoices, products and pricing pulled from S/4HANA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2062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4206240"/>
            <a:ext cx="3630168" cy="109728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" y="44988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Role-based portals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12 roles, each sees only its own action queue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42062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97680" y="4206240"/>
            <a:ext cx="3630168" cy="109728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53712" y="44988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Sample &amp; CAPA tracking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Physical sample QC gate + root-cause records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4206240"/>
            <a:ext cx="3630168" cy="187451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92440" y="4206240"/>
            <a:ext cx="3630168" cy="109728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48472" y="4498848"/>
            <a:ext cx="3172968" cy="1417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Immutable audit log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Checksummed, append-only, tamper-evident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02 ·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3566160" cy="457200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45920"/>
            <a:ext cx="3566160" cy="2286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141732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PRESENTATION  ·  Frontend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1984248"/>
            <a:ext cx="3182112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5A6B78"/>
                </a:solidFill>
                <a:latin typeface="Segoe UI"/>
              </a:rPr>
              <a:t>Vanilla-JS SPA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Role-aware portals &amp; router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Dashboard, complaints, detail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Login via httpOnly JWT cookie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Static server on :5173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41732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315968" y="1417320"/>
            <a:ext cx="3566160" cy="457200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15968" y="1645920"/>
            <a:ext cx="3566160" cy="22860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98848" y="141732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APPLICATION  ·  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1984248"/>
            <a:ext cx="3182112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5A6B78"/>
                </a:solidFill>
                <a:latin typeface="Segoe UI"/>
              </a:rPr>
              <a:t>Express REST API :3000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Auth · RBAC · rate limiting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Workflow &amp; policy engines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SLA + archival schedulers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Notification service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29016" y="1417320"/>
            <a:ext cx="356616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129016" y="1417320"/>
            <a:ext cx="3566160" cy="457200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129016" y="1645920"/>
            <a:ext cx="3566160" cy="22860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1417320"/>
            <a:ext cx="32918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Segoe UI Semibold"/>
              </a:rPr>
              <a:t>DATA &amp; 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48472" y="1984248"/>
            <a:ext cx="3182112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5A6B78"/>
                </a:solidFill>
                <a:latin typeface="Segoe UI"/>
              </a:rPr>
              <a:t>PostgreSQL + SAP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18-table relational schema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Append-only audit log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SAP S/4HANA connector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1A2530"/>
                </a:solidFill>
                <a:latin typeface="Segoe UI"/>
              </a:rPr>
              <a:t>•  Mock/live switch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087368" y="2331720"/>
            <a:ext cx="201168" cy="365760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7900416" y="2331720"/>
            <a:ext cx="201168" cy="365760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02920" y="3840480"/>
            <a:ext cx="11192256" cy="960120"/>
          </a:xfrm>
          <a:prstGeom prst="roundRect">
            <a:avLst/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" y="393192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12A40"/>
                </a:solidFill>
                <a:latin typeface="Segoe UI"/>
              </a:rPr>
              <a:t>CROSS-CUTTING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3232" y="4279392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4279392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Helmet security headers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56432" y="4279392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56432" y="4279392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CORS + credentials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99632" y="4279392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4279392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JWT auth (8h)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42832" y="4279392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42832" y="4279392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bcrypt hashing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634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13232" y="4663440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Rate limiting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56432" y="46634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56432" y="4663440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Audit checksums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99632" y="46634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99632" y="4663440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Read scoping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42832" y="4663440"/>
            <a:ext cx="2560320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942832" y="4663440"/>
            <a:ext cx="25603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A2530"/>
                </a:solidFill>
                <a:latin typeface="Segoe UI"/>
              </a:rPr>
              <a:t>Input validation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5029200"/>
            <a:ext cx="11155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"/>
              </a:rPr>
              <a:t>Request flow:  </a:t>
            </a:r>
            <a:r>
              <a:rPr sz="1200" b="0">
                <a:solidFill>
                  <a:srgbClr val="1A2530"/>
                </a:solidFill>
                <a:latin typeface="Segoe UI"/>
              </a:rPr>
              <a:t>Browser  →  Express (auth → RBAC → route) → workflow/policy engine → PostgreSQL, with SAP touchpoints for invoice, master-data and credit-note operations. Every state change writes an immutable, checksummed audit entry.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02 ·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08760"/>
            <a:ext cx="550468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508760"/>
            <a:ext cx="109728" cy="2148840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691639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Backend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221991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221991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Node.js 18+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00984" y="2221991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00984" y="2221991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Express 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278892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278892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PostgreSQL 13+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00984" y="278892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00984" y="278892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node-postgres (pg)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90488" y="1508760"/>
            <a:ext cx="550468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90488" y="1508760"/>
            <a:ext cx="109728" cy="2148840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10527" y="1691639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Security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10527" y="2221991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0527" y="2221991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JSON Web Tokens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88551" y="2221991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88551" y="2221991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bcryptjs hashing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10527" y="278892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10527" y="278892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Helmet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88551" y="278892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88551" y="278892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express-rate-limit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858768"/>
            <a:ext cx="550468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02920" y="3858768"/>
            <a:ext cx="109728" cy="2148840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041648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Frontend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457200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457200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Vanilla JavaScript SPA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00984" y="457200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00984" y="457200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Hand-rolled router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22960" y="5138928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138928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CSS design system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00984" y="5138928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00984" y="5138928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Zero build step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90488" y="3858768"/>
            <a:ext cx="5504688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6190488" y="3858768"/>
            <a:ext cx="109728" cy="2148840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10527" y="4041648"/>
            <a:ext cx="504748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Tooling &amp; Ops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510527" y="457200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0527" y="457200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node:test (32 tests)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988551" y="4572000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88551" y="4572000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Nodemailer notifications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510527" y="5138928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10527" y="5138928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dotenv config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988551" y="5138928"/>
            <a:ext cx="2409444" cy="402336"/>
          </a:xfrm>
          <a:prstGeom prst="roundRect">
            <a:avLst>
              <a:gd name="adj" fmla="val 5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88551" y="5138928"/>
            <a:ext cx="2409444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A2530"/>
                </a:solidFill>
                <a:latin typeface="Segoe UI"/>
              </a:rPr>
              <a:t>Postman collection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03 · DATA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18-table schema: master + transactional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562356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17320"/>
            <a:ext cx="5623560" cy="502920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691640"/>
            <a:ext cx="5623560" cy="2286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17320"/>
            <a:ext cx="5120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MASTER DATA   ·   9 entities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084831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Customer / Distributor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49631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2907791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Role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331927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Department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373075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Product / SKU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42231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Invoice (Billing Doc)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5371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Complaint Type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6519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Sample Type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376672"/>
            <a:ext cx="5120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0912F"/>
                </a:solidFill>
                <a:latin typeface="Segoe UI"/>
              </a:rPr>
              <a:t>›  </a:t>
            </a:r>
            <a:r>
              <a:rPr sz="1250" b="0">
                <a:solidFill>
                  <a:srgbClr val="1A2530"/>
                </a:solidFill>
                <a:latin typeface="Segoe UI"/>
              </a:rPr>
              <a:t>Sales Policy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55080" y="1417320"/>
            <a:ext cx="5330952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55080" y="1417320"/>
            <a:ext cx="5330952" cy="502920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55080" y="1691640"/>
            <a:ext cx="5330952" cy="22860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417320"/>
            <a:ext cx="49377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Segoe UI Semibold"/>
              </a:rPr>
              <a:t>TRANSACTIONAL   ·   7 entities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2066543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Complaint</a:t>
            </a:r>
            <a:r>
              <a:rPr sz="1050" b="0">
                <a:solidFill>
                  <a:srgbClr val="5A6B78"/>
                </a:solidFill>
                <a:latin typeface="Segoe UI"/>
              </a:rPr>
              <a:t>   status, settlement value, gates, policy flag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2601468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Line Item</a:t>
            </a:r>
            <a:r>
              <a:rPr sz="1050" b="0">
                <a:solidFill>
                  <a:srgbClr val="5A6B78"/>
                </a:solidFill>
                <a:latin typeface="Segoe UI"/>
              </a:rPr>
              <a:t>   defective value = unit price × defective qty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136391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Attachment</a:t>
            </a:r>
            <a:r>
              <a:rPr sz="1050" b="0">
                <a:solidFill>
                  <a:srgbClr val="5A6B78"/>
                </a:solidFill>
                <a:latin typeface="Segoe UI"/>
              </a:rPr>
              <a:t>   photos / videos per line item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20840" y="3671315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Sample Record</a:t>
            </a:r>
            <a:r>
              <a:rPr sz="1050" b="0">
                <a:solidFill>
                  <a:srgbClr val="5A6B78"/>
                </a:solidFill>
                <a:latin typeface="Segoe UI"/>
              </a:rPr>
              <a:t>   Awaited → Received → Tested → Disposed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4206240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Visit Record</a:t>
            </a:r>
            <a:r>
              <a:rPr sz="1050" b="0">
                <a:solidFill>
                  <a:srgbClr val="5A6B78"/>
                </a:solidFill>
                <a:latin typeface="Segoe UI"/>
              </a:rPr>
              <a:t>   Planned → Completed, outcome &amp; sign-off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20840" y="4741164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CAPA Record</a:t>
            </a:r>
            <a:r>
              <a:rPr sz="1050" b="0">
                <a:solidFill>
                  <a:srgbClr val="5A6B78"/>
                </a:solidFill>
                <a:latin typeface="Segoe UI"/>
              </a:rPr>
              <a:t>   root cause, corrective, preventive action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5276088"/>
            <a:ext cx="48006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F8A80"/>
                </a:solidFill>
                <a:latin typeface="Segoe UI"/>
              </a:rPr>
              <a:t>›  </a:t>
            </a:r>
            <a:r>
              <a:rPr sz="1250" b="1">
                <a:solidFill>
                  <a:srgbClr val="1A2530"/>
                </a:solidFill>
                <a:latin typeface="Segoe UI"/>
              </a:rPr>
              <a:t>Credit Note</a:t>
            </a:r>
            <a:r>
              <a:rPr sz="1050" b="0">
                <a:solidFill>
                  <a:srgbClr val="5A6B78"/>
                </a:solidFill>
                <a:latin typeface="Segoe UI"/>
              </a:rPr>
              <a:t>   SAP CN number written back at closure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053328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12A40"/>
                </a:solidFill>
                <a:latin typeface="Segoe UI"/>
              </a:rPr>
              <a:t>Integrity by design:  </a:t>
            </a:r>
            <a:r>
              <a:rPr sz="1150" b="0">
                <a:solidFill>
                  <a:srgbClr val="5A6B78"/>
                </a:solidFill>
                <a:latin typeface="Segoe UI"/>
              </a:rPr>
              <a:t>money stored as numeric · defective value is a generated column · all statuses CHECK-constrained · audit log append-only at the DB level.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04 ·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The 8-stage complaint lifecycle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615184" cy="786384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1572768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Logged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1481328"/>
            <a:ext cx="2615184" cy="786384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9856" y="1572768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TS_Review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17336" y="1481328"/>
            <a:ext cx="2615184" cy="786384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27064" y="1572768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QC_Review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QC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24544" y="1481328"/>
            <a:ext cx="2615184" cy="786384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34272" y="1572768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Sample_Awaited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QC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753344" y="1371600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53344" y="1371600"/>
            <a:ext cx="78638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542032"/>
            <a:ext cx="2615184" cy="786384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8" y="2633472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CAPA_Pending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Ops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310128" y="2542032"/>
            <a:ext cx="2615184" cy="786384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9856" y="2633472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Ops_Head_Approval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Ops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17336" y="2542032"/>
            <a:ext cx="2615184" cy="786384"/>
          </a:xfrm>
          <a:prstGeom prst="roundRect">
            <a:avLst/>
          </a:prstGeom>
          <a:solidFill>
            <a:srgbClr val="B56A1E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27064" y="2633472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Marketing_Review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Mktg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24544" y="2542032"/>
            <a:ext cx="2615184" cy="786384"/>
          </a:xfrm>
          <a:prstGeom prst="roundRect">
            <a:avLst/>
          </a:prstGeom>
          <a:solidFill>
            <a:srgbClr val="B56A1E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34272" y="2633472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Marketing_Head_Appr.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Mktg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3602736"/>
            <a:ext cx="2615184" cy="786384"/>
          </a:xfrm>
          <a:prstGeom prst="roundRect">
            <a:avLst/>
          </a:prstGeom>
          <a:solidFill>
            <a:srgbClr val="C05340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3694176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MD_Approval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MD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331720" y="349300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31720" y="3493008"/>
            <a:ext cx="78638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310128" y="3602736"/>
            <a:ext cx="2615184" cy="786384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19856" y="3694176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Visit_Pending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Sales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138928" y="349300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38928" y="3493008"/>
            <a:ext cx="78638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17336" y="3602736"/>
            <a:ext cx="2615184" cy="78638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27064" y="3694176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Finance_Processing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Fin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946136" y="3493008"/>
            <a:ext cx="786384" cy="292608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46136" y="3493008"/>
            <a:ext cx="786384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FFFFFF"/>
                </a:solidFill>
                <a:latin typeface="Segoe UI"/>
              </a:rPr>
              <a:t>GATE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24544" y="3602736"/>
            <a:ext cx="2615184" cy="786384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34272" y="3694176"/>
            <a:ext cx="2395728" cy="6035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00" b="1">
                <a:solidFill>
                  <a:srgbClr val="FFFFFF"/>
                </a:solidFill>
                <a:latin typeface="Segoe UI Semibold"/>
              </a:rPr>
              <a:t>Closed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950" b="0">
                <a:solidFill>
                  <a:srgbClr val="DDE6EC"/>
                </a:solidFill>
                <a:latin typeface="Segoe UI"/>
              </a:rPr>
              <a:t>—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3099816" y="1764792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ight Arrow 41"/>
          <p:cNvSpPr/>
          <p:nvPr/>
        </p:nvSpPr>
        <p:spPr>
          <a:xfrm>
            <a:off x="5907024" y="1764792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ight Arrow 42"/>
          <p:cNvSpPr/>
          <p:nvPr/>
        </p:nvSpPr>
        <p:spPr>
          <a:xfrm>
            <a:off x="8714232" y="1764792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ight Arrow 43"/>
          <p:cNvSpPr/>
          <p:nvPr/>
        </p:nvSpPr>
        <p:spPr>
          <a:xfrm>
            <a:off x="3099816" y="2825496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ight Arrow 44"/>
          <p:cNvSpPr/>
          <p:nvPr/>
        </p:nvSpPr>
        <p:spPr>
          <a:xfrm>
            <a:off x="5907024" y="2825496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ight Arrow 45"/>
          <p:cNvSpPr/>
          <p:nvPr/>
        </p:nvSpPr>
        <p:spPr>
          <a:xfrm>
            <a:off x="8714232" y="2825496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ight Arrow 46"/>
          <p:cNvSpPr/>
          <p:nvPr/>
        </p:nvSpPr>
        <p:spPr>
          <a:xfrm>
            <a:off x="3099816" y="3886200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ight Arrow 47"/>
          <p:cNvSpPr/>
          <p:nvPr/>
        </p:nvSpPr>
        <p:spPr>
          <a:xfrm>
            <a:off x="5907024" y="3886200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ight Arrow 48"/>
          <p:cNvSpPr/>
          <p:nvPr/>
        </p:nvSpPr>
        <p:spPr>
          <a:xfrm>
            <a:off x="8714232" y="3886200"/>
            <a:ext cx="182880" cy="219456"/>
          </a:xfrm>
          <a:prstGeom prst="right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Down Arrow 49"/>
          <p:cNvSpPr/>
          <p:nvPr/>
        </p:nvSpPr>
        <p:spPr>
          <a:xfrm>
            <a:off x="10122408" y="2249424"/>
            <a:ext cx="219456" cy="182880"/>
          </a:xfrm>
          <a:prstGeom prst="down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own Arrow 50"/>
          <p:cNvSpPr/>
          <p:nvPr/>
        </p:nvSpPr>
        <p:spPr>
          <a:xfrm>
            <a:off x="10122408" y="3310127"/>
            <a:ext cx="219456" cy="182880"/>
          </a:xfrm>
          <a:prstGeom prst="downArrow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502920" y="4709160"/>
            <a:ext cx="11192256" cy="1051560"/>
          </a:xfrm>
          <a:prstGeom prst="roundRect">
            <a:avLst/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3232" y="4791456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12A40"/>
                </a:solidFill>
                <a:latin typeface="Segoe UI"/>
              </a:rPr>
              <a:t>SIDE-STATES (reachable from any active status)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3232" y="5138928"/>
            <a:ext cx="146304" cy="457200"/>
          </a:xfrm>
          <a:prstGeom prst="roundRect">
            <a:avLst/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9264" y="51206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Rejected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5A6B78"/>
                </a:solidFill>
                <a:latin typeface="Segoe UI"/>
              </a:rPr>
              <a:t>returns to previous status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416552" y="5138928"/>
            <a:ext cx="146304" cy="457200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672584" y="51206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Clarification_Sought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5A6B78"/>
                </a:solidFill>
                <a:latin typeface="Segoe UI"/>
              </a:rPr>
              <a:t>pauses, resumes when resolved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8119871" y="5138928"/>
            <a:ext cx="146304" cy="457200"/>
          </a:xfrm>
          <a:prstGeom prst="roundRect">
            <a:avLst/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75903" y="5120640"/>
            <a:ext cx="3383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Auto_Closed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00" b="0">
                <a:solidFill>
                  <a:srgbClr val="5A6B78"/>
                </a:solidFill>
                <a:latin typeface="Segoe UI"/>
              </a:rPr>
              <a:t>auto-closed after SLA lapse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04 · BUSINESS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Automated gates govern every settlement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530"/>
                </a:solidFill>
                <a:latin typeface="Segoe UI"/>
              </a:rPr>
              <a:t>Gates are evaluated by the engine — not left to the user. They fire automatically from the complaint's own data, so approvals can never be skipped.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286000"/>
            <a:ext cx="550468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2286000"/>
            <a:ext cx="109728" cy="1691640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90288" y="250545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505456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QC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542032"/>
            <a:ext cx="36758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2A40"/>
                </a:solidFill>
                <a:latin typeface="Segoe UI Semibold"/>
              </a:rPr>
              <a:t>Sample Gate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560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QC_Review cannot be approved until the physical sample status is Received or beyond.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0488" y="2286000"/>
            <a:ext cx="550468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190488" y="2286000"/>
            <a:ext cx="109728" cy="1691640"/>
          </a:xfrm>
          <a:prstGeom prst="roundRect">
            <a:avLst/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277855" y="250545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77855" y="2505456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MD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7" y="2542032"/>
            <a:ext cx="36758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2A40"/>
                </a:solidFill>
                <a:latin typeface="Segoe UI Semibold"/>
              </a:rPr>
              <a:t>MD Approval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7" y="3063240"/>
            <a:ext cx="49560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Triggered when settlement &gt; ₹1,00,000, or a sales-policy breach forces MD sign-off.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178808"/>
            <a:ext cx="550468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2920" y="4178808"/>
            <a:ext cx="109728" cy="1691640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90288" y="439826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90288" y="4398264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Sales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4434840"/>
            <a:ext cx="36758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2A40"/>
                </a:solidFill>
                <a:latin typeface="Segoe UI Semibold"/>
              </a:rPr>
              <a:t>Visit Gate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956048"/>
            <a:ext cx="49560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Triggered when the customer is a key account, or settlement &gt; ₹50,000.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90488" y="4178808"/>
            <a:ext cx="5504688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90488" y="4178808"/>
            <a:ext cx="109728" cy="169164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10277855" y="439826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77855" y="4398264"/>
            <a:ext cx="118872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Finance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10527" y="4434840"/>
            <a:ext cx="367588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12A40"/>
                </a:solidFill>
                <a:latin typeface="Segoe UI Semibold"/>
              </a:rPr>
              <a:t>Finance Gate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0527" y="4956048"/>
            <a:ext cx="495604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A6B78"/>
                </a:solidFill>
                <a:latin typeface="Segoe UI"/>
              </a:rPr>
              <a:t>A complaint cannot reach Closed until a SAP Credit Note number exists in CCMS.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05 ·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SAP S/4HANA — 6 integration touchpoints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11192256" cy="4572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502919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#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463040"/>
            <a:ext cx="352044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Touchpoint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37760" y="1463040"/>
            <a:ext cx="2057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Direction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1463040"/>
            <a:ext cx="17830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Mode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52560" y="1463040"/>
            <a:ext cx="2642616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Segoe UI Semibold"/>
              </a:rPr>
              <a:t>SAP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920240"/>
            <a:ext cx="11192256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1920240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1920240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Invoice lookup (qty, price)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60" y="1920240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1920240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Real-time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1920240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API_BILLING_DOCUMENT_SRV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487168"/>
            <a:ext cx="11192256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2487168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0160" y="2487168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Customer / Distributor master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2487168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0" y="2487168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Nightly batch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52560" y="2487168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API_BUSINESS_PARTNER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054096"/>
            <a:ext cx="11192256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054096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3054096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Product / SKU master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37760" y="3054096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32320" y="3054096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Nightly batch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52560" y="3054096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API_PRODUCT_SRV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3621024"/>
            <a:ext cx="11192256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621024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80160" y="3621024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Sales policy / pricing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60" y="3621024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0" y="3621024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Nightly batch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52560" y="3621024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API_SLSPRICINGCONDITIONRECORD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87952"/>
            <a:ext cx="11192256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4187952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80160" y="4187952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Credit Note creation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37760" y="4187952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0912F"/>
                </a:solidFill>
                <a:latin typeface="Segoe UI"/>
              </a:rPr>
              <a:t>CCMS → SAP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132320" y="4187952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Real-time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52560" y="4187952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API_SALES_ORDER_SRV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754880"/>
            <a:ext cx="11192256" cy="566928"/>
          </a:xfrm>
          <a:prstGeom prst="rect">
            <a:avLst/>
          </a:prstGeom>
          <a:solidFill>
            <a:srgbClr val="EEF2F5"/>
          </a:solidFill>
          <a:ln w="635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4754880"/>
            <a:ext cx="502919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A6B78"/>
                </a:solidFill>
                <a:latin typeface="Segoe U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280160" y="4754880"/>
            <a:ext cx="35204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A2530"/>
                </a:solidFill>
                <a:latin typeface="Segoe UI"/>
              </a:rPr>
              <a:t>Credit Note write-back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37760" y="4754880"/>
            <a:ext cx="20574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F8A80"/>
                </a:solidFill>
                <a:latin typeface="Segoe UI"/>
              </a:rPr>
              <a:t>SAP → CCMS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132320" y="4754880"/>
            <a:ext cx="1783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Real-time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4754880"/>
            <a:ext cx="264261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response to #5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5458968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12A40"/>
                </a:solidFill>
                <a:latin typeface="Segoe UI"/>
              </a:rPr>
              <a:t>Mock / live switch:  </a:t>
            </a:r>
            <a:r>
              <a:rPr sz="1150" b="0">
                <a:solidFill>
                  <a:srgbClr val="5A6B78"/>
                </a:solidFill>
                <a:latin typeface="Segoe UI"/>
              </a:rPr>
              <a:t>the whole demo runs in MOCK mode with realistic SAP responses; a single .env flag (SAP_USE_MOCK=false) points it at a real gateway — zero code changes.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06 · 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Security &amp; access control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550468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27632"/>
            <a:ext cx="73152" cy="128016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664208"/>
            <a:ext cx="5047488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Authentication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JWT issued on login, carried in an httpOnly cookie (8-hour expiry); logout revokes the token server-side.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481328"/>
            <a:ext cx="550468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0488" y="1627632"/>
            <a:ext cx="73152" cy="128016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664208"/>
            <a:ext cx="5047488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Role-Based Access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12 roles; every workflow action is checked against the role allowed to act at that stage — wrong role is refused with 403.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236976"/>
            <a:ext cx="550468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3383280"/>
            <a:ext cx="73152" cy="128016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" y="3419856"/>
            <a:ext cx="5047488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Read Scoping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Enforced by the API, not the UI: a junior role only ever receives the complaints in its own queue.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90488" y="3236976"/>
            <a:ext cx="5504688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90488" y="3383280"/>
            <a:ext cx="73152" cy="1280160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19856"/>
            <a:ext cx="5047488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112A40"/>
                </a:solidFill>
                <a:latin typeface="Segoe UI Semibold"/>
              </a:rPr>
              <a:t>Immutable Audit Log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A6B78"/>
                </a:solidFill>
                <a:latin typeface="Segoe UI"/>
              </a:rPr>
              <a:t>Every human and system action is logged, checksummed and append-only — verified tamper-free at runtime.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828032"/>
            <a:ext cx="11192256" cy="960120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901184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DEFENCE IN DEPTH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31520" y="523036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5230368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Helmet headers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0" y="523036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74720" y="5230368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CORS + credentials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523036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5230368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bcrypt password hashing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61120" y="5230368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961120" y="5230368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Rate limiting (global + auth)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614416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6144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Input validation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74720" y="5614416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474720" y="56144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HTTPS enforced in prod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5614416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17920" y="56144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Frozen client config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20" y="5614416"/>
            <a:ext cx="2606040" cy="310896"/>
          </a:xfrm>
          <a:prstGeom prst="roundRect">
            <a:avLst>
              <a:gd name="adj" fmla="val 50000"/>
            </a:avLst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961120" y="5614416"/>
            <a:ext cx="260604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Segoe UI"/>
              </a:rPr>
              <a:t>Path-traversal guards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06 · ROLES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Twelve role-based portals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11556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1A2530"/>
                </a:solidFill>
                <a:latin typeface="Segoe UI"/>
              </a:rPr>
              <a:t>Each role signs into its own portal — its own accent colour, navigation, and action queue.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65960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965960"/>
            <a:ext cx="128016" cy="896112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" y="2084831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TS Officer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Creates &amp; forwards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1965960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97680" y="1965960"/>
            <a:ext cx="128016" cy="896112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08576" y="2084831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TS Head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Approves TS_Review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1965960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1965960"/>
            <a:ext cx="128016" cy="896112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03336" y="2084831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QC Analyst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Logs &amp; tests samples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008376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008376"/>
            <a:ext cx="128016" cy="896112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3816" y="3127248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QC Manager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Approves QC_Review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3008376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297680" y="3008376"/>
            <a:ext cx="128016" cy="896112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08576" y="3127248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Operations Analyst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Documents CAPA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2440" y="3008376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92440" y="3008376"/>
            <a:ext cx="128016" cy="896112"/>
          </a:xfrm>
          <a:prstGeom prst="round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03336" y="3127248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Operations Head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Approves Ops stage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4050791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2920" y="4050791"/>
            <a:ext cx="128016" cy="896112"/>
          </a:xfrm>
          <a:prstGeom prst="roundRect">
            <a:avLst/>
          </a:prstGeom>
          <a:solidFill>
            <a:srgbClr val="B5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3816" y="4169663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Product Manager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Marketing review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050791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297680" y="4050791"/>
            <a:ext cx="128016" cy="896112"/>
          </a:xfrm>
          <a:prstGeom prst="roundRect">
            <a:avLst/>
          </a:prstGeom>
          <a:solidFill>
            <a:srgbClr val="B5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08576" y="4169663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Marketing Head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Approves Marketing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92440" y="4050791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92440" y="4050791"/>
            <a:ext cx="128016" cy="896112"/>
          </a:xfrm>
          <a:prstGeom prst="roundRect">
            <a:avLst/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03336" y="4169663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Managing Director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High-value / breach sign-off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093208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502920" y="5093208"/>
            <a:ext cx="128016" cy="896112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3816" y="5212080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Finance Officer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Raises Credit Note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297680" y="5093208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297680" y="5093208"/>
            <a:ext cx="128016" cy="896112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08576" y="5212080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Sales / KAM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Customer visits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92440" y="5093208"/>
            <a:ext cx="3630168" cy="89611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092440" y="5093208"/>
            <a:ext cx="128016" cy="896112"/>
          </a:xfrm>
          <a:prstGeom prst="roundRect">
            <a:avLst/>
          </a:prstGeom>
          <a:solidFill>
            <a:srgbClr val="334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03336" y="5212080"/>
            <a:ext cx="3172968" cy="6766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250" b="1">
                <a:solidFill>
                  <a:srgbClr val="112A40"/>
                </a:solidFill>
                <a:latin typeface="Segoe UI Semibold"/>
              </a:rPr>
              <a:t>Administrator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Full access, all stages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07 · THE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Product screens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humb_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527048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67512" y="3379078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Sign in</a:t>
            </a:r>
            <a:r>
              <a:rPr sz="900" b="0">
                <a:solidFill>
                  <a:srgbClr val="5A6B78"/>
                </a:solidFill>
                <a:latin typeface="Segoe UI"/>
              </a:rPr>
              <a:t>   One system, a portal per role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417320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thumb_02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8264" y="1527048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453128" y="3379078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Dashboard</a:t>
            </a:r>
            <a:r>
              <a:rPr sz="900" b="0">
                <a:solidFill>
                  <a:srgbClr val="5A6B78"/>
                </a:solidFill>
                <a:latin typeface="Segoe UI"/>
              </a:rPr>
              <a:t>   Your action queue, KPIs first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74152" y="1417320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thumb_03-complain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83880" y="1527048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8238744" y="3379078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Complaints</a:t>
            </a:r>
            <a:r>
              <a:rPr sz="900" b="0">
                <a:solidFill>
                  <a:srgbClr val="5A6B78"/>
                </a:solidFill>
                <a:latin typeface="Segoe UI"/>
              </a:rPr>
              <a:t>   Scoped to what you may see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95928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humb_05-new-complai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" y="4105656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667512" y="5957686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New complaint</a:t>
            </a:r>
            <a:r>
              <a:rPr sz="900" b="0">
                <a:solidFill>
                  <a:srgbClr val="5A6B78"/>
                </a:solidFill>
                <a:latin typeface="Segoe UI"/>
              </a:rPr>
              <a:t>   Invoice pulled live from SAP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8536" y="3995928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thumb_04-complaint-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98264" y="4105656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23" name="TextBox 22"/>
          <p:cNvSpPr txBox="1"/>
          <p:nvPr/>
        </p:nvSpPr>
        <p:spPr>
          <a:xfrm>
            <a:off x="4453128" y="5957686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Complaint detail</a:t>
            </a:r>
            <a:r>
              <a:rPr sz="900" b="0">
                <a:solidFill>
                  <a:srgbClr val="5A6B78"/>
                </a:solidFill>
                <a:latin typeface="Segoe UI"/>
              </a:rPr>
              <a:t>   The whole journey on one page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74152" y="3995928"/>
            <a:ext cx="3611880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thumb_06-audit-log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880" y="4105656"/>
            <a:ext cx="3392424" cy="1833742"/>
          </a:xfrm>
          <a:prstGeom prst="rect">
            <a:avLst/>
          </a:prstGeom>
          <a:ln w="9525">
            <a:solidFill>
              <a:srgbClr val="D5DDE3"/>
            </a:solidFill>
          </a:ln>
        </p:spPr>
      </p:pic>
      <p:sp>
        <p:nvSpPr>
          <p:cNvPr id="26" name="TextBox 25"/>
          <p:cNvSpPr txBox="1"/>
          <p:nvPr/>
        </p:nvSpPr>
        <p:spPr>
          <a:xfrm>
            <a:off x="8238744" y="5957686"/>
            <a:ext cx="3300984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112A40"/>
                </a:solidFill>
                <a:latin typeface="Segoe UI Semibold"/>
              </a:rPr>
              <a:t>Audit log</a:t>
            </a:r>
            <a:r>
              <a:rPr sz="900" b="0">
                <a:solidFill>
                  <a:srgbClr val="5A6B78"/>
                </a:solidFill>
                <a:latin typeface="Segoe UI"/>
              </a:rPr>
              <a:t>   Every action, append-only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07 ·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Tested &amp; verified end-to-end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81328"/>
            <a:ext cx="2651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2920" y="1481328"/>
            <a:ext cx="2651760" cy="109728"/>
          </a:xfrm>
          <a:prstGeom prst="round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45920"/>
            <a:ext cx="2651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12A40"/>
                </a:solidFill>
                <a:latin typeface="Segoe UI Semibold"/>
              </a:rPr>
              <a:t>32 / 32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unit tests passing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9272" y="1481328"/>
            <a:ext cx="2651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319272" y="1481328"/>
            <a:ext cx="2651760" cy="109728"/>
          </a:xfrm>
          <a:prstGeom prst="round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19272" y="1645920"/>
            <a:ext cx="2651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12A40"/>
                </a:solidFill>
                <a:latin typeface="Segoe UI Semibold"/>
              </a:rPr>
              <a:t>12 → Closed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9272" y="2331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full lifecycle driven live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1481328"/>
            <a:ext cx="2651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35624" y="1481328"/>
            <a:ext cx="2651760" cy="109728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35624" y="1645920"/>
            <a:ext cx="2651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12A40"/>
                </a:solidFill>
                <a:latin typeface="Segoe UI Semibold"/>
              </a:rPr>
              <a:t>0 tampered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35624" y="2331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audit entries (integrity verified)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51976" y="1481328"/>
            <a:ext cx="265176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951976" y="1481328"/>
            <a:ext cx="2651760" cy="109728"/>
          </a:xfrm>
          <a:prstGeom prst="round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51976" y="1645920"/>
            <a:ext cx="265176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112A40"/>
                </a:solidFill>
                <a:latin typeface="Segoe UI Semibold"/>
              </a:rPr>
              <a:t>4 gates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51976" y="2331720"/>
            <a:ext cx="2651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A6B78"/>
                </a:solidFill>
                <a:latin typeface="Segoe UI"/>
              </a:rPr>
              <a:t>enforced automatically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971800"/>
            <a:ext cx="11192256" cy="2788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312724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What was verified against the live 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3611880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Auth: login → JWT cookie, logout revokes, protected routes return 401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959352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Full lifecycle: Logged → … → Closed with sample, CAPA, visit &amp; credit note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306824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Sample gate blocks QC approval (422); finance gate blocks close without CN (422)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4654296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RBAC: wrong-role action refused (403); read scoping limits list per role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001768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SAP touchpoints: real-time invoice lookup + credit-note push &amp; write-back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" y="5349240"/>
            <a:ext cx="108813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8B57"/>
                </a:solidFill>
                <a:latin typeface="Segoe UI"/>
              </a:rPr>
              <a:t>✓  </a:t>
            </a:r>
            <a:r>
              <a:rPr sz="1200" b="0">
                <a:solidFill>
                  <a:srgbClr val="1A2530"/>
                </a:solidFill>
                <a:latin typeface="Segoe UI"/>
              </a:rPr>
              <a:t>Audit log: 75 entries verified append-only and tamper-free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07 ·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Segoe UI Semibold"/>
              </a:rPr>
              <a:t>Live demo walkthrough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E0912F"/>
                </a:solidFill>
                <a:latin typeface="Segoe UI"/>
              </a:rPr>
              <a:t>14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20" y="1810512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81051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73736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Sign in by role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Show the role-specific portal, accent colour and action queue.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155448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19088" y="1810512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181051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4927" y="173736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Create a complaint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Enter an invoice — SAP returns header &amp; line items in real time.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10896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3364991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364991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29184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Watch the gates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Settlement value auto-triggers MD approval and the mandatory visit.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0488" y="310896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9088" y="3364991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3364991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4927" y="329184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Move through stages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TS → QC (sample gate) → CAPA → Ops → Marketing → MD → Visit.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466344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31520" y="4919472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491947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84632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Raise the credit note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Finance pushes to SAP; CN number is written back and complaint closes.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90488" y="4663440"/>
            <a:ext cx="55046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  <a:effectLst>
            <a:outerShdw blurRad="90000" dist="38100" dir="5400000" rotWithShape="0">
              <a:srgbClr val="1A2530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19088" y="4919472"/>
            <a:ext cx="822960" cy="822960"/>
          </a:xfrm>
          <a:prstGeom prst="ellipse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19088" y="4919472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E0912F"/>
                </a:solidFill>
                <a:latin typeface="Segoe UI Semibold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24927" y="4846320"/>
            <a:ext cx="4087368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450" b="1">
                <a:solidFill>
                  <a:srgbClr val="112A40"/>
                </a:solidFill>
                <a:latin typeface="Segoe UI Semibold"/>
              </a:rPr>
              <a:t>Open the audit log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>
                <a:solidFill>
                  <a:srgbClr val="5A6B78"/>
                </a:solidFill>
                <a:latin typeface="Segoe UI"/>
              </a:rPr>
              <a:t>Every human &amp; system action, checksummed and append-only.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12A40"/>
                </a:solidFill>
                <a:latin typeface="Segoe UI"/>
              </a:rPr>
              <a:t>Running locally:  </a:t>
            </a:r>
            <a:r>
              <a:rPr sz="1150" b="0">
                <a:solidFill>
                  <a:srgbClr val="5A6B78"/>
                </a:solidFill>
                <a:latin typeface="Segoe UI"/>
              </a:rPr>
              <a:t>frontend on http://localhost:5173   ·   API on http://localhost:3000 (MOCK SAP mode)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0912F"/>
                </a:solidFill>
                <a:latin typeface="Segoe UI"/>
              </a:rPr>
              <a:t>08 · NOTIFICATIONS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 Semibold"/>
              </a:rPr>
              <a:t>Nobody has to chase an update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E0912F"/>
                </a:solidFill>
                <a:latin typeface="Segoe UI"/>
              </a:rPr>
              <a:t>15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11183112" cy="749808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609344"/>
            <a:ext cx="118872" cy="457200"/>
          </a:xfrm>
          <a:prstGeom prst="roundRect">
            <a:avLst>
              <a:gd name="adj" fmla="val 50000"/>
            </a:avLst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1463040"/>
            <a:ext cx="1051560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1A2530"/>
                </a:solidFill>
                <a:latin typeface="Segoe UI"/>
              </a:rPr>
              <a:t>The moment a complaint changes status, CCMS emails the two people who care — the customer, and the staff member who owns the next step. No manual follow-up, no missed hand-offs.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487168"/>
            <a:ext cx="5431536" cy="2139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487168"/>
            <a:ext cx="146304" cy="2139696"/>
          </a:xfrm>
          <a:prstGeom prst="roundRect">
            <a:avLst>
              <a:gd name="adj" fmla="val 50000"/>
            </a:avLst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3816" y="2670048"/>
            <a:ext cx="4882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E0912F"/>
                </a:solidFill>
                <a:latin typeface="Segoe UI"/>
              </a:rPr>
              <a:t>EXTERNAL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2907792"/>
            <a:ext cx="48828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2A40"/>
                </a:solidFill>
                <a:latin typeface="Segoe UI Semibold"/>
              </a:rPr>
              <a:t>The customer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" y="3419856"/>
            <a:ext cx="4828032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•  </a:t>
            </a:r>
            <a:r>
              <a:rPr sz="1100" b="0">
                <a:solidFill>
                  <a:srgbClr val="1A2530"/>
                </a:solidFill>
                <a:latin typeface="Segoe UI"/>
              </a:rPr>
              <a:t>Branded email at every milestone — acknowledgement through credit note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•  </a:t>
            </a:r>
            <a:r>
              <a:rPr sz="1100" b="0">
                <a:solidFill>
                  <a:srgbClr val="1A2530"/>
                </a:solidFill>
                <a:latin typeface="Segoe UI"/>
              </a:rPr>
              <a:t>Plain language: complaint number, current status, and what happens next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•  </a:t>
            </a:r>
            <a:r>
              <a:rPr sz="1100" b="0">
                <a:solidFill>
                  <a:srgbClr val="1A2530"/>
                </a:solidFill>
                <a:latin typeface="Segoe UI"/>
              </a:rPr>
              <a:t>Told on exception paths too — clarification, rejection, auto-close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54496" y="2487168"/>
            <a:ext cx="5431536" cy="2139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54496" y="2487168"/>
            <a:ext cx="146304" cy="2139696"/>
          </a:xfrm>
          <a:prstGeom prst="roundRect">
            <a:avLst>
              <a:gd name="adj" fmla="val 50000"/>
            </a:avLst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65392" y="2670048"/>
            <a:ext cx="488289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1F8A80"/>
                </a:solidFill>
                <a:latin typeface="Segoe UI"/>
              </a:rPr>
              <a:t>PER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65392" y="2907792"/>
            <a:ext cx="4882896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12A40"/>
                </a:solidFill>
                <a:latin typeface="Segoe UI Semibold"/>
              </a:rPr>
              <a:t>Internal staff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3419856"/>
            <a:ext cx="4828032" cy="113385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•  </a:t>
            </a:r>
            <a:r>
              <a:rPr sz="1100" b="0">
                <a:solidFill>
                  <a:srgbClr val="1A2530"/>
                </a:solidFill>
                <a:latin typeface="Segoe UI"/>
              </a:rPr>
              <a:t>The officer who owns the next stage gets an “action required” alert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•  </a:t>
            </a:r>
            <a:r>
              <a:rPr sz="1100" b="0">
                <a:solidFill>
                  <a:srgbClr val="1A2530"/>
                </a:solidFill>
                <a:latin typeface="Segoe UI"/>
              </a:rPr>
              <a:t>TS Officer → QC Analyst → Operations → MD → Finance, stage by stage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100" b="1">
                <a:solidFill>
                  <a:srgbClr val="E0912F"/>
                </a:solidFill>
                <a:latin typeface="Segoe UI"/>
              </a:rPr>
              <a:t>•  </a:t>
            </a:r>
            <a:r>
              <a:rPr sz="1100" b="0">
                <a:solidFill>
                  <a:srgbClr val="1A2530"/>
                </a:solidFill>
                <a:latin typeface="Segoe UI"/>
              </a:rPr>
              <a:t>Supervisors receive automatic SLA-breach escalations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82896"/>
            <a:ext cx="3602736" cy="932688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0664" y="5157216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33271" y="5038344"/>
            <a:ext cx="2962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12A40"/>
                </a:solidFill>
                <a:latin typeface="Segoe UI Semibold"/>
              </a:rPr>
              <a:t>Persisted to PostgreSQL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271" y="5358383"/>
            <a:ext cx="29626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A6B78"/>
                </a:solidFill>
                <a:latin typeface="Segoe UI"/>
              </a:rPr>
              <a:t>Every message is stored — the trail survives restarts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882896"/>
            <a:ext cx="3602736" cy="932688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35424" y="5157216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28032" y="5038344"/>
            <a:ext cx="2962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12A40"/>
                </a:solidFill>
                <a:latin typeface="Segoe UI Semibold"/>
              </a:rPr>
              <a:t>De-duplicated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8032" y="5358383"/>
            <a:ext cx="29626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A6B78"/>
                </a:solidFill>
                <a:latin typeface="Segoe UI"/>
              </a:rPr>
              <a:t>The same milestone is never emailed twice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83296" y="4882896"/>
            <a:ext cx="3602736" cy="932688"/>
          </a:xfrm>
          <a:prstGeom prst="roundRect">
            <a:avLst>
              <a:gd name="adj" fmla="val 10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8321040" y="5157216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13648" y="5038344"/>
            <a:ext cx="2962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112A40"/>
                </a:solidFill>
                <a:latin typeface="Segoe UI Semibold"/>
              </a:rPr>
              <a:t>Mock ↔ Live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13648" y="5358383"/>
            <a:ext cx="296265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A6B78"/>
                </a:solidFill>
                <a:latin typeface="Segoe UI"/>
              </a:rPr>
              <a:t>Flip one flag to switch on real delivery — no code change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0912F"/>
                </a:solidFill>
                <a:latin typeface="Segoe UI"/>
              </a:rPr>
              <a:t>08 · NOTIFICATIONS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 Semibold"/>
              </a:rPr>
              <a:t>The customer’s email journey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E0912F"/>
                </a:solidFill>
                <a:latin typeface="Segoe UI"/>
              </a:rPr>
              <a:t>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36192"/>
            <a:ext cx="341071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22376" y="1755648"/>
            <a:ext cx="384048" cy="384048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" y="175564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719072"/>
            <a:ext cx="25420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2A40"/>
                </a:solidFill>
                <a:latin typeface="Segoe UI Semibold"/>
              </a:rPr>
              <a:t>Acknowledgement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039112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78"/>
                </a:solidFill>
                <a:latin typeface="Segoe UI"/>
              </a:rPr>
              <a:t>On complaint creation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237744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0912F"/>
                </a:solidFill>
                <a:latin typeface="Segoe UI"/>
              </a:rPr>
              <a:t>“We’ve received your complaint”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06240" y="1536192"/>
            <a:ext cx="341071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425696" y="1755648"/>
            <a:ext cx="384048" cy="384048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25696" y="175564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37759" y="1719072"/>
            <a:ext cx="25420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2A40"/>
                </a:solidFill>
                <a:latin typeface="Segoe UI Semibold"/>
              </a:rPr>
              <a:t>Technical review done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59" y="2039112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78"/>
                </a:solidFill>
                <a:latin typeface="Segoe UI"/>
              </a:rPr>
              <a:t>Moves to QC review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25696" y="237744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0912F"/>
                </a:solidFill>
                <a:latin typeface="Segoe UI"/>
              </a:rPr>
              <a:t>“Technical review complete”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09560" y="1536192"/>
            <a:ext cx="341071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9016" y="1755648"/>
            <a:ext cx="384048" cy="384048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29016" y="175564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41080" y="1719072"/>
            <a:ext cx="25420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2A40"/>
                </a:solidFill>
                <a:latin typeface="Segoe UI Semibold"/>
              </a:rPr>
              <a:t>QC review complete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2039112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78"/>
                </a:solidFill>
                <a:latin typeface="Segoe UI"/>
              </a:rPr>
              <a:t>Moves to operations / CAPA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9016" y="2377440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0912F"/>
                </a:solidFill>
                <a:latin typeface="Segoe UI"/>
              </a:rPr>
              <a:t>“Quality check complete”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2852928"/>
            <a:ext cx="341071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22376" y="3072384"/>
            <a:ext cx="384048" cy="384048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30723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34440" y="3035808"/>
            <a:ext cx="25420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2A40"/>
                </a:solidFill>
                <a:latin typeface="Segoe UI Semibold"/>
              </a:rPr>
              <a:t>Pending MD approval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3355848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78"/>
                </a:solidFill>
                <a:latin typeface="Segoe UI"/>
              </a:rPr>
              <a:t>High-value settlements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" y="369417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0912F"/>
                </a:solidFill>
                <a:latin typeface="Segoe UI"/>
              </a:rPr>
              <a:t>“Awaiting final approval”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06240" y="2852928"/>
            <a:ext cx="341071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425696" y="3072384"/>
            <a:ext cx="384048" cy="384048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25696" y="30723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37759" y="3035808"/>
            <a:ext cx="25420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2A40"/>
                </a:solidFill>
                <a:latin typeface="Segoe UI Semibold"/>
              </a:rPr>
              <a:t>Approved – credit note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37759" y="3355848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78"/>
                </a:solidFill>
                <a:latin typeface="Segoe UI"/>
              </a:rPr>
              <a:t>Handed to Finance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25696" y="369417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0912F"/>
                </a:solidFill>
                <a:latin typeface="Segoe UI"/>
              </a:rPr>
              <a:t>“Approved, credit note in progress”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909560" y="2852928"/>
            <a:ext cx="3410712" cy="1188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8129016" y="3072384"/>
            <a:ext cx="384048" cy="384048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29016" y="30723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41080" y="3035808"/>
            <a:ext cx="25420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12A40"/>
                </a:solidFill>
                <a:latin typeface="Segoe UI Semibold"/>
              </a:rPr>
              <a:t>Resolved &amp; closed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1080" y="3355848"/>
            <a:ext cx="254203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A6B78"/>
                </a:solidFill>
                <a:latin typeface="Segoe UI"/>
              </a:rPr>
              <a:t>Credit note issued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29016" y="3694176"/>
            <a:ext cx="30266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E0912F"/>
                </a:solidFill>
                <a:latin typeface="Segoe UI"/>
              </a:rPr>
              <a:t>“Complaint resolved &amp; closed”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02920" y="4315968"/>
            <a:ext cx="11183112" cy="1481328"/>
          </a:xfrm>
          <a:prstGeom prst="roundRect">
            <a:avLst>
              <a:gd name="adj" fmla="val 6000"/>
            </a:avLst>
          </a:prstGeom>
          <a:solidFill>
            <a:srgbClr val="EE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4480559"/>
            <a:ext cx="10058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112A40"/>
                </a:solidFill>
                <a:latin typeface="Segoe UI"/>
              </a:rPr>
              <a:t>EXCEPTION PATHS — the customer is told either way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937759"/>
            <a:ext cx="146304" cy="548640"/>
          </a:xfrm>
          <a:prstGeom prst="roundRect">
            <a:avLst>
              <a:gd name="adj" fmla="val 50000"/>
            </a:avLst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05840" y="4919472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2530"/>
                </a:solidFill>
                <a:latin typeface="Segoe UI"/>
              </a:rPr>
              <a:t>Clarification sought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" y="521207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A6B78"/>
                </a:solidFill>
                <a:latin typeface="Segoe UI"/>
              </a:rPr>
              <a:t>We need more information to proceed — reply to resume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434840" y="4937759"/>
            <a:ext cx="146304" cy="548640"/>
          </a:xfrm>
          <a:prstGeom prst="roundRect">
            <a:avLst>
              <a:gd name="adj" fmla="val 50000"/>
            </a:avLst>
          </a:prstGeom>
          <a:solidFill>
            <a:srgbClr val="C05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09159" y="4919472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2530"/>
                </a:solidFill>
                <a:latin typeface="Segoe UI"/>
              </a:rPr>
              <a:t>Rejected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709159" y="521207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A6B78"/>
                </a:solidFill>
                <a:latin typeface="Segoe UI"/>
              </a:rPr>
              <a:t>Closed with the reason stated, courteously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138160" y="4937759"/>
            <a:ext cx="146304" cy="548640"/>
          </a:xfrm>
          <a:prstGeom prst="roundRect">
            <a:avLst>
              <a:gd name="adj" fmla="val 50000"/>
            </a:avLst>
          </a:prstGeom>
          <a:solidFill>
            <a:srgbClr val="5A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12480" y="4919472"/>
            <a:ext cx="3246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1A2530"/>
                </a:solidFill>
                <a:latin typeface="Segoe UI"/>
              </a:rPr>
              <a:t>Auto-closed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412480" y="5212079"/>
            <a:ext cx="3246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000" b="0">
                <a:solidFill>
                  <a:srgbClr val="5A6B78"/>
                </a:solidFill>
                <a:latin typeface="Segoe UI"/>
              </a:rPr>
              <a:t>No customer response within the 30-day SLA window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54864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19456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0912F"/>
                </a:solidFill>
                <a:latin typeface="Segoe UI"/>
              </a:rPr>
              <a:t>08 · NOTIFICATIONS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457200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Segoe UI Semibold"/>
              </a:rPr>
              <a:t>Under the hood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28816"/>
            <a:ext cx="7315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B9C7D2"/>
                </a:solidFill>
                <a:latin typeface="Segoe UI"/>
              </a:rPr>
              <a:t>Customer Complaint Management System  ·  Orient Paper &amp; Mill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528816"/>
            <a:ext cx="1280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>
                <a:solidFill>
                  <a:srgbClr val="E0912F"/>
                </a:solidFill>
                <a:latin typeface="Segoe UI"/>
              </a:rP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36192"/>
            <a:ext cx="3410712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36192"/>
            <a:ext cx="3410712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792224"/>
            <a:ext cx="2953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TRANSPORT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" y="2048256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SMTP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2596896"/>
            <a:ext cx="2935224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Emails are sent with nodemailer over an SMTP relay (Brevo). Host, port and credentials live in environment config — never in source.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536192"/>
            <a:ext cx="3410712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0" y="1536192"/>
            <a:ext cx="3410712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62272" y="1792224"/>
            <a:ext cx="2953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TOGGLE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048256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Mock ↔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2596896"/>
            <a:ext cx="2935224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A single NOTIFY_MODE flag switches between console + in-app logging and real email. Same code path — one variable decides delivery.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09560" y="1536192"/>
            <a:ext cx="3410712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09560" y="1536192"/>
            <a:ext cx="3410712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1792224"/>
            <a:ext cx="2953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DURABILITY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2048256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Persisted &amp; de-duplicated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2" y="2596896"/>
            <a:ext cx="2935224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Every message is written to a notifications table in PostgreSQL. The trail survives restarts, and a milestone is never sent twice.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749039"/>
            <a:ext cx="3410712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2920" y="3749039"/>
            <a:ext cx="3410712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952" y="4005072"/>
            <a:ext cx="2953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" y="4261104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Secure by construction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" y="4809744"/>
            <a:ext cx="2935224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Bodies are HTML-escaped to prevent injection, recipients are resolved from RBAC roles, and SMTP secrets stay in a git-ignored .env file.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06240" y="3749039"/>
            <a:ext cx="3410712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206240" y="3749039"/>
            <a:ext cx="3410712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62272" y="4005072"/>
            <a:ext cx="2953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VISIBILITY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2272" y="4261104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In-app audit trail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62272" y="4809744"/>
            <a:ext cx="2935224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Every email also appears in the complaint’s Emails tab, grouped per complaint — a full record of who was told what, and when.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09560" y="3749039"/>
            <a:ext cx="3410712" cy="208483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909560" y="3749039"/>
            <a:ext cx="3410712" cy="9144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65592" y="4005072"/>
            <a:ext cx="29535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E0912F"/>
                </a:solidFill>
                <a:latin typeface="Segoe UI"/>
              </a:rPr>
              <a:t>AUTOMATION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5592" y="4261104"/>
            <a:ext cx="2953512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12A40"/>
                </a:solidFill>
                <a:latin typeface="Segoe UI Semibold"/>
              </a:rPr>
              <a:t>SLA-driven alerts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65592" y="4809744"/>
            <a:ext cx="2935224" cy="9418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>
                <a:solidFill>
                  <a:srgbClr val="5A6B78"/>
                </a:solidFill>
                <a:latin typeface="Segoe UI"/>
              </a:rPr>
              <a:t>The SLA engine emails the supervisor automatically the moment a stage breaches its deadline, so nothing stalls unseen.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0584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E0912F"/>
                </a:solidFill>
                <a:latin typeface="Segoe U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607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Segoe UI Semibold"/>
              </a:rPr>
              <a:t>A complete, governed, SAP-ready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Segoe UI Semibold"/>
              </a:rPr>
              <a:t>complaint management platform.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944368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88036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D5DEE5"/>
                </a:solidFill>
                <a:latin typeface="Segoe UI"/>
              </a:rPr>
              <a:t>Full 8-stage lifecycle with automated approval gates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3447288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38328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D5DEE5"/>
                </a:solidFill>
                <a:latin typeface="Segoe UI"/>
              </a:rPr>
              <a:t>Live SAP S/4HANA integration across 6 touchpoints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950208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88620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D5DEE5"/>
                </a:solidFill>
                <a:latin typeface="Segoe UI"/>
              </a:rPr>
              <a:t>Role-based access with an immutable, verified audit trail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4453128"/>
            <a:ext cx="146304" cy="146304"/>
          </a:xfrm>
          <a:prstGeom prst="ellipse">
            <a:avLst/>
          </a:prstGeom>
          <a:solidFill>
            <a:srgbClr val="E091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3891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D5DEE5"/>
                </a:solidFill>
                <a:latin typeface="Segoe UI"/>
              </a:rPr>
              <a:t>Verified end-to-end — 32 tests plus a live run to closure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257800"/>
            <a:ext cx="3840480" cy="18288"/>
          </a:xfrm>
          <a:prstGeom prst="rect">
            <a:avLst/>
          </a:prstGeom>
          <a:solidFill>
            <a:srgbClr val="3A53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548640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Segoe UI Semibold"/>
              </a:rPr>
              <a:t>Thank you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B9C7D2"/>
                </a:solidFill>
                <a:latin typeface="Segoe UI"/>
              </a:rPr>
              <a:t>Keshav Raj Jain   ·   Orient Paper &amp; Mill — CCMS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09760" y="0"/>
            <a:ext cx="2681935" cy="6858000"/>
          </a:xfrm>
          <a:prstGeom prst="rect">
            <a:avLst/>
          </a:prstGeom>
          <a:solidFill>
            <a:srgbClr val="1B3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509760" y="0"/>
            <a:ext cx="54864" cy="6858000"/>
          </a:xfrm>
          <a:prstGeom prst="rect">
            <a:avLst/>
          </a:prstGeom>
          <a:solidFill>
            <a:srgbClr val="1F8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9800" y="2286000"/>
            <a:ext cx="2194560" cy="228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Segoe UI Semibold"/>
              </a:rPr>
              <a:t>Q &amp; 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0912F"/>
                </a:solidFill>
                <a:latin typeface="Segoe UI"/>
              </a:rPr>
              <a:t>Questions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E0912F"/>
                </a:solidFill>
                <a:latin typeface="Segoe UI"/>
              </a:rPr>
              <a:t>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