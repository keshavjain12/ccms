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9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0"/>
            <a:ext cx="54864" cy="6858000"/>
          </a:xfrm>
          <a:prstGeom prst="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640080"/>
            <a:ext cx="2651760" cy="5577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E0912F"/>
                </a:solidFill>
                <a:latin typeface="Segoe UI Semibold"/>
              </a:rPr>
              <a:t>18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C7D2"/>
                </a:solidFill>
                <a:latin typeface="Segoe UI"/>
              </a:rPr>
              <a:t>DB TABLES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E0912F"/>
                </a:solidFill>
                <a:latin typeface="Segoe UI Semibold"/>
              </a:rPr>
              <a:t>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C7D2"/>
                </a:solidFill>
                <a:latin typeface="Segoe UI"/>
              </a:rPr>
              <a:t>WORKFLOW STATES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E0912F"/>
                </a:solidFill>
                <a:latin typeface="Segoe UI Semibold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C7D2"/>
                </a:solidFill>
                <a:latin typeface="Segoe UI"/>
              </a:rPr>
              <a:t>SAP TOUCHPOINTS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E0912F"/>
                </a:solidFill>
                <a:latin typeface="Segoe UI Semibold"/>
              </a:rPr>
              <a:t>12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C7D2"/>
                </a:solidFill>
                <a:latin typeface="Segoe UI"/>
              </a:rPr>
              <a:t>RBAC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912F"/>
                </a:solidFill>
                <a:latin typeface="Segoe UI"/>
              </a:rPr>
              <a:t>ORIENT PAPER &amp; MILL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Segoe UI Semibold"/>
              </a:rPr>
              <a:t>Customer Complaint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Segoe UI Semibold"/>
              </a:rPr>
              <a:t>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7D3DC"/>
                </a:solidFill>
                <a:latin typeface="Segoe UI"/>
              </a:rPr>
              <a:t>An end-to-end complaint lifecycle platform with SAP S/4HANA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7D3DC"/>
                </a:solidFill>
                <a:latin typeface="Segoe UI"/>
              </a:rPr>
              <a:t>integration, role-based workflow, and an immutable audit trail.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74920"/>
            <a:ext cx="3108960" cy="18288"/>
          </a:xfrm>
          <a:prstGeom prst="rect">
            <a:avLst/>
          </a:prstGeom>
          <a:solidFill>
            <a:srgbClr val="3A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9C7D2"/>
                </a:solidFill>
                <a:latin typeface="Segoe UI"/>
              </a:rPr>
              <a:t>Built by  </a:t>
            </a:r>
            <a:r>
              <a:rPr sz="1600" b="1">
                <a:solidFill>
                  <a:srgbClr val="FFFFFF"/>
                </a:solidFill>
                <a:latin typeface="Segoe UI"/>
              </a:rPr>
              <a:t>Keshav Raj Jain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B78"/>
                </a:solidFill>
                <a:latin typeface="Segoe UI"/>
              </a:rPr>
              <a:t>Project Presentation  ·  Express API + PostgreSQL + Vanilla-JS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822960" cy="658368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481328"/>
            <a:ext cx="411480" cy="658368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8132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0912F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563624"/>
            <a:ext cx="438912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Why complaint handling needed a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81328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481328"/>
            <a:ext cx="822960" cy="658368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481328"/>
            <a:ext cx="411480" cy="658368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48132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0912F"/>
                </a:solidFill>
                <a:latin typeface="Segoe UI Semi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563624"/>
            <a:ext cx="438912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Solution &amp; Architecture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How CCMS is structured end-to-end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258568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258568"/>
            <a:ext cx="822960" cy="658368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2258568"/>
            <a:ext cx="411480" cy="658368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25856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0912F"/>
                </a:solidFill>
                <a:latin typeface="Segoe UI Semi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340864"/>
            <a:ext cx="438912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Data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18 tables · 9 master + 7 transactional entities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258568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2258568"/>
            <a:ext cx="822960" cy="658368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2258568"/>
            <a:ext cx="411480" cy="658368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5856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0912F"/>
                </a:solidFill>
                <a:latin typeface="Segoe UI Semibol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340864"/>
            <a:ext cx="438912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Workflow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The 8-stage lifecycle and its gates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035808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3035808"/>
            <a:ext cx="822960" cy="658368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3035808"/>
            <a:ext cx="411480" cy="658368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03580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0912F"/>
                </a:solidFill>
                <a:latin typeface="Segoe UI Semibold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118104"/>
            <a:ext cx="438912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SAP S/4HANA Integration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6 real-time &amp; batch touchpoints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035808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3035808"/>
            <a:ext cx="822960" cy="658368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3035808"/>
            <a:ext cx="411480" cy="658368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03580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0912F"/>
                </a:solidFill>
                <a:latin typeface="Segoe UI Semibold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118104"/>
            <a:ext cx="438912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Security &amp; Access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RBAC, JWT, and the audit trail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813048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3813048"/>
            <a:ext cx="822960" cy="658368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3813048"/>
            <a:ext cx="411480" cy="658368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81304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0912F"/>
                </a:solidFill>
                <a:latin typeface="Segoe UI Semibold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3895344"/>
            <a:ext cx="438912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Verification &amp; Demo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Testing evidence and live walkthrough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3813048"/>
            <a:ext cx="54864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72200" y="3813048"/>
            <a:ext cx="822960" cy="658368"/>
          </a:xfrm>
          <a:prstGeom prst="roundRect">
            <a:avLst>
              <a:gd name="adj" fmla="val 10000"/>
            </a:avLst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0" y="3813048"/>
            <a:ext cx="411480" cy="658368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3813048"/>
            <a:ext cx="822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E0912F"/>
                </a:solidFill>
                <a:latin typeface="Segoe UI Semibold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3895344"/>
            <a:ext cx="4389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A40"/>
                </a:solidFill>
                <a:latin typeface="Segoe UI Semibold"/>
              </a:rPr>
              <a:t>Notifications</a:t>
            </a:r>
          </a:p>
          <a:p>
            <a:pPr algn="l"/>
            <a:r>
              <a:rPr sz="1050" b="0">
                <a:solidFill>
                  <a:srgbClr val="5A6B78"/>
                </a:solidFill>
                <a:latin typeface="Segoe UI"/>
              </a:rPr>
              <a:t>How every stakeholder stays informed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37560" y="4590288"/>
            <a:ext cx="54864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337560" y="4590288"/>
            <a:ext cx="822960" cy="658368"/>
          </a:xfrm>
          <a:prstGeom prst="roundRect">
            <a:avLst>
              <a:gd name="adj" fmla="val 10000"/>
            </a:avLst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49039" y="4590288"/>
            <a:ext cx="411480" cy="658368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4590288"/>
            <a:ext cx="822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E0912F"/>
                </a:solidFill>
                <a:latin typeface="Segoe UI Semibold"/>
              </a:rPr>
              <a:t>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0" y="4672583"/>
            <a:ext cx="4389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A40"/>
                </a:solidFill>
                <a:latin typeface="Segoe UI Semibold"/>
              </a:rPr>
              <a:t>Deployment</a:t>
            </a:r>
          </a:p>
          <a:p>
            <a:pPr algn="l"/>
            <a:r>
              <a:rPr sz="1050" b="0">
                <a:solidFill>
                  <a:srgbClr val="5A6B78"/>
                </a:solidFill>
                <a:latin typeface="Segoe UI"/>
              </a:rPr>
              <a:t>Live, single-service, on managed Postgres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01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The problem we set out to 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2530"/>
                </a:solidFill>
                <a:latin typeface="Segoe UI"/>
              </a:rPr>
              <a:t>A paper &amp; chemical manufacturer receives complaints across many products, customers and departments — and every one carries a financial settlement that must be governed.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550468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78024"/>
            <a:ext cx="73152" cy="1307592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514600"/>
            <a:ext cx="504748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Manual &amp; fragmented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8"/>
                </a:solidFill>
                <a:latin typeface="Segoe UI"/>
              </a:rPr>
              <a:t>Complaints tracked on email and spreadsheets — no single source of truth, no status visibility.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331720"/>
            <a:ext cx="550468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478024"/>
            <a:ext cx="73152" cy="1307592"/>
          </a:xfrm>
          <a:prstGeom prst="rect">
            <a:avLst/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504748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No governance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8"/>
                </a:solidFill>
                <a:latin typeface="Segoe UI"/>
              </a:rPr>
              <a:t>Settlement approvals had no enforced thresholds; high-value credits could slip through.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33087"/>
            <a:ext cx="550468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79392"/>
            <a:ext cx="73152" cy="1307592"/>
          </a:xfrm>
          <a:prstGeom prst="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315968"/>
            <a:ext cx="504748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Disconnected from SAP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8"/>
                </a:solidFill>
                <a:latin typeface="Segoe UI"/>
              </a:rPr>
              <a:t>Invoice, product and pricing data re-keyed by hand, causing errors and delays.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133087"/>
            <a:ext cx="550468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4279392"/>
            <a:ext cx="73152" cy="130759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15968"/>
            <a:ext cx="504748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No audit trail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8"/>
                </a:solidFill>
                <a:latin typeface="Segoe UI"/>
              </a:rPr>
              <a:t>Impossible to prove who did what, when — a compliance and quality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02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CCMS in one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2530"/>
                </a:solidFill>
                <a:latin typeface="Segoe UI"/>
              </a:rPr>
              <a:t>A web platform that runs the full complaint journey — from logging to credit note — with the rules, roles and SAP links built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3630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3630168" cy="109728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441448"/>
            <a:ext cx="317296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Full lifecycle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8 stages, Draft → Closed, enforced by a state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48840"/>
            <a:ext cx="3630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2148840"/>
            <a:ext cx="3630168" cy="109728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441448"/>
            <a:ext cx="317296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Governed settlements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Auto-gates for MD approval, visits and finance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630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630168" cy="109728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2441448"/>
            <a:ext cx="317296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Live SAP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Invoices, products and pricing pulled from S/4HANA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06240"/>
            <a:ext cx="3630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206240"/>
            <a:ext cx="3630168" cy="109728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498848"/>
            <a:ext cx="317296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Role-based portals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12 roles, each sees only its own action queue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206240"/>
            <a:ext cx="3630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4206240"/>
            <a:ext cx="3630168" cy="109728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4498848"/>
            <a:ext cx="317296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Sample &amp; CAPA tracking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Physical sample QC gate + root-cause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206240"/>
            <a:ext cx="3630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4206240"/>
            <a:ext cx="3630168" cy="109728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4498848"/>
            <a:ext cx="317296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Immutable audit log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Checksummed, append-only, tamper-evident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566160" cy="457200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3566160" cy="2286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PRESENTATION  · 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1984248"/>
            <a:ext cx="318211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5A6B78"/>
                </a:solidFill>
                <a:latin typeface="Segoe UI"/>
              </a:rPr>
              <a:t>Vanilla-JS SPA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Role-aware portals &amp; router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Dashboard, complaints, detail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Login via httpOnly JWT cookie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Static server on :5173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41732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1417320"/>
            <a:ext cx="3566160" cy="457200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645920"/>
            <a:ext cx="3566160" cy="228600"/>
          </a:xfrm>
          <a:prstGeom prst="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4173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APPLICATION  · 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1984248"/>
            <a:ext cx="318211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5A6B78"/>
                </a:solidFill>
                <a:latin typeface="Segoe UI"/>
              </a:rPr>
              <a:t>Express REST API :3000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Auth · RBAC · rate limiting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Workflow &amp; policy engines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SLA + archival schedulers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Notification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141732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29016" y="1417320"/>
            <a:ext cx="3566160" cy="457200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6" y="1645920"/>
            <a:ext cx="3566160" cy="22860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4173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DATA &amp;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1984248"/>
            <a:ext cx="318211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5A6B78"/>
                </a:solidFill>
                <a:latin typeface="Segoe UI"/>
              </a:rPr>
              <a:t>PostgreSQL + SAP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18-table relational schema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Append-only audit 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SAP S/4HANA connector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530"/>
                </a:solidFill>
                <a:latin typeface="Segoe UI"/>
              </a:rPr>
              <a:t>•  Mock/live switch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87368" y="2331720"/>
            <a:ext cx="201168" cy="365760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900416" y="2331720"/>
            <a:ext cx="201168" cy="365760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840480"/>
            <a:ext cx="11192256" cy="960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931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2A40"/>
                </a:solidFill>
                <a:latin typeface="Segoe UI"/>
              </a:rPr>
              <a:t>CROSS-CUTTING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279392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279392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2530"/>
                </a:solidFill>
                <a:latin typeface="Segoe UI"/>
              </a:rPr>
              <a:t>Helmet security headers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6432" y="4279392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4279392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2530"/>
                </a:solidFill>
                <a:latin typeface="Segoe UI"/>
              </a:rPr>
              <a:t>CORS + credentials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4279392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4279392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2530"/>
                </a:solidFill>
                <a:latin typeface="Segoe UI"/>
              </a:rPr>
              <a:t>JWT auth (8h)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42832" y="4279392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2832" y="4279392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2530"/>
                </a:solidFill>
                <a:latin typeface="Segoe UI"/>
              </a:rPr>
              <a:t>bcrypt hashing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66344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66344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2530"/>
                </a:solidFill>
                <a:latin typeface="Segoe UI"/>
              </a:rPr>
              <a:t>Rate limiting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56432" y="466344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56432" y="466344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2530"/>
                </a:solidFill>
                <a:latin typeface="Segoe UI"/>
              </a:rPr>
              <a:t>Audit checksums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466344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2" y="466344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2530"/>
                </a:solidFill>
                <a:latin typeface="Segoe UI"/>
              </a:rPr>
              <a:t>Read scoping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42832" y="466344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42832" y="466344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2530"/>
                </a:solidFill>
                <a:latin typeface="Segoe UI"/>
              </a:rPr>
              <a:t>Input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2A40"/>
                </a:solidFill>
                <a:latin typeface="Segoe UI"/>
              </a:rPr>
              <a:t>Request flow:  </a:t>
            </a:r>
            <a:r>
              <a:rPr sz="1200" b="0">
                <a:solidFill>
                  <a:srgbClr val="1A2530"/>
                </a:solidFill>
                <a:latin typeface="Segoe UI"/>
              </a:rPr>
              <a:t>Browser  →  Express (auth → RBAC → route) → workflow/policy engine → PostgreSQL, with SAP touchpoints for invoice, master-data and credit-note operations. Every state change writes an immutable, checksummed audit entry.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02 ·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550468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109728" cy="2148840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39"/>
            <a:ext cx="5047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21991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21991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Node.js 18+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2221991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0984" y="2221991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Express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788920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788920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PostgreSQL 13+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0984" y="2788920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0984" y="2788920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node-postgres (pg)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1508760"/>
            <a:ext cx="550468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0488" y="1508760"/>
            <a:ext cx="109728" cy="2148840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1691639"/>
            <a:ext cx="5047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Security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7" y="2221991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7" y="2221991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JSON Web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8551" y="2221991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1" y="2221991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bcryptjs hashing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0527" y="2788920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7" y="2788920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Helmet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1" y="2788920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1" y="2788920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express-rate-limit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858768"/>
            <a:ext cx="550468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3858768"/>
            <a:ext cx="109728" cy="2148840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041648"/>
            <a:ext cx="5047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Frontend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572000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572000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Vanilla JavaScript SPA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00984" y="4572000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00984" y="4572000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Hand-rolled router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138928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138928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CSS design system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00984" y="5138928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00984" y="5138928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Zero build step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3858768"/>
            <a:ext cx="550468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90488" y="3858768"/>
            <a:ext cx="109728" cy="21488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7" y="4041648"/>
            <a:ext cx="5047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Tooling &amp; Ops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10527" y="4572000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7" y="4572000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node:test (32 tests)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88551" y="4572000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8551" y="4572000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Nodemailer notifications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10527" y="5138928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7" y="5138928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dotenv config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88551" y="5138928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88551" y="5138928"/>
            <a:ext cx="24094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530"/>
                </a:solidFill>
                <a:latin typeface="Segoe UI"/>
              </a:rPr>
              <a:t>Postman collection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03 ·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18-table schema: master + transactional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623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623560" cy="502920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5623560" cy="2286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MASTER DATA   ·   9 entities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84831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912F"/>
                </a:solidFill>
                <a:latin typeface="Segoe UI"/>
              </a:rPr>
              <a:t>›  </a:t>
            </a:r>
            <a:r>
              <a:rPr sz="1250" b="0">
                <a:solidFill>
                  <a:srgbClr val="1A2530"/>
                </a:solidFill>
                <a:latin typeface="Segoe UI"/>
              </a:rPr>
              <a:t>Customer / Distributor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9631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912F"/>
                </a:solidFill>
                <a:latin typeface="Segoe UI"/>
              </a:rPr>
              <a:t>›  </a:t>
            </a:r>
            <a:r>
              <a:rPr sz="1250" b="0">
                <a:solidFill>
                  <a:srgbClr val="1A2530"/>
                </a:solidFill>
                <a:latin typeface="Segoe UI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07791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912F"/>
                </a:solidFill>
                <a:latin typeface="Segoe UI"/>
              </a:rPr>
              <a:t>›  </a:t>
            </a:r>
            <a:r>
              <a:rPr sz="1250" b="0">
                <a:solidFill>
                  <a:srgbClr val="1A2530"/>
                </a:solidFill>
                <a:latin typeface="Segoe UI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1927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912F"/>
                </a:solidFill>
                <a:latin typeface="Segoe UI"/>
              </a:rPr>
              <a:t>›  </a:t>
            </a:r>
            <a:r>
              <a:rPr sz="1250" b="0">
                <a:solidFill>
                  <a:srgbClr val="1A2530"/>
                </a:solidFill>
                <a:latin typeface="Segoe UI"/>
              </a:rPr>
              <a:t>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3075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912F"/>
                </a:solidFill>
                <a:latin typeface="Segoe UI"/>
              </a:rPr>
              <a:t>›  </a:t>
            </a:r>
            <a:r>
              <a:rPr sz="1250" b="0">
                <a:solidFill>
                  <a:srgbClr val="1A2530"/>
                </a:solidFill>
                <a:latin typeface="Segoe UI"/>
              </a:rPr>
              <a:t>Product / SKU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42231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912F"/>
                </a:solidFill>
                <a:latin typeface="Segoe UI"/>
              </a:rPr>
              <a:t>›  </a:t>
            </a:r>
            <a:r>
              <a:rPr sz="1250" b="0">
                <a:solidFill>
                  <a:srgbClr val="1A2530"/>
                </a:solidFill>
                <a:latin typeface="Segoe UI"/>
              </a:rPr>
              <a:t>Invoice (Billing Doc)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5371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912F"/>
                </a:solidFill>
                <a:latin typeface="Segoe UI"/>
              </a:rPr>
              <a:t>›  </a:t>
            </a:r>
            <a:r>
              <a:rPr sz="1250" b="0">
                <a:solidFill>
                  <a:srgbClr val="1A2530"/>
                </a:solidFill>
                <a:latin typeface="Segoe UI"/>
              </a:rPr>
              <a:t>Complaint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6519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912F"/>
                </a:solidFill>
                <a:latin typeface="Segoe UI"/>
              </a:rPr>
              <a:t>›  </a:t>
            </a:r>
            <a:r>
              <a:rPr sz="1250" b="0">
                <a:solidFill>
                  <a:srgbClr val="1A2530"/>
                </a:solidFill>
                <a:latin typeface="Segoe UI"/>
              </a:rPr>
              <a:t>Sample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7667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0912F"/>
                </a:solidFill>
                <a:latin typeface="Segoe UI"/>
              </a:rPr>
              <a:t>›  </a:t>
            </a:r>
            <a:r>
              <a:rPr sz="1250" b="0">
                <a:solidFill>
                  <a:srgbClr val="1A2530"/>
                </a:solidFill>
                <a:latin typeface="Segoe UI"/>
              </a:rPr>
              <a:t>Sales Policy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417320"/>
            <a:ext cx="533095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417320"/>
            <a:ext cx="5330952" cy="502920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1691640"/>
            <a:ext cx="5330952" cy="228600"/>
          </a:xfrm>
          <a:prstGeom prst="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41732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TRANSACTIONAL   ·   7 entities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066543"/>
            <a:ext cx="4800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8A80"/>
                </a:solidFill>
                <a:latin typeface="Segoe UI"/>
              </a:rPr>
              <a:t>›  </a:t>
            </a:r>
            <a:r>
              <a:rPr sz="1250" b="1">
                <a:solidFill>
                  <a:srgbClr val="1A2530"/>
                </a:solidFill>
                <a:latin typeface="Segoe UI"/>
              </a:rPr>
              <a:t>Complaint</a:t>
            </a:r>
            <a:r>
              <a:rPr sz="1050" b="0">
                <a:solidFill>
                  <a:srgbClr val="5A6B78"/>
                </a:solidFill>
                <a:latin typeface="Segoe UI"/>
              </a:rPr>
              <a:t>   status, settlement value, gates, policy flag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601468"/>
            <a:ext cx="4800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8A80"/>
                </a:solidFill>
                <a:latin typeface="Segoe UI"/>
              </a:rPr>
              <a:t>›  </a:t>
            </a:r>
            <a:r>
              <a:rPr sz="1250" b="1">
                <a:solidFill>
                  <a:srgbClr val="1A2530"/>
                </a:solidFill>
                <a:latin typeface="Segoe UI"/>
              </a:rPr>
              <a:t>Line Item</a:t>
            </a:r>
            <a:r>
              <a:rPr sz="1050" b="0">
                <a:solidFill>
                  <a:srgbClr val="5A6B78"/>
                </a:solidFill>
                <a:latin typeface="Segoe UI"/>
              </a:rPr>
              <a:t>   defective value = unit price × defective qty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136391"/>
            <a:ext cx="4800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8A80"/>
                </a:solidFill>
                <a:latin typeface="Segoe UI"/>
              </a:rPr>
              <a:t>›  </a:t>
            </a:r>
            <a:r>
              <a:rPr sz="1250" b="1">
                <a:solidFill>
                  <a:srgbClr val="1A2530"/>
                </a:solidFill>
                <a:latin typeface="Segoe UI"/>
              </a:rPr>
              <a:t>Attachment</a:t>
            </a:r>
            <a:r>
              <a:rPr sz="1050" b="0">
                <a:solidFill>
                  <a:srgbClr val="5A6B78"/>
                </a:solidFill>
                <a:latin typeface="Segoe UI"/>
              </a:rPr>
              <a:t>   photos / videos per line item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671315"/>
            <a:ext cx="4800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8A80"/>
                </a:solidFill>
                <a:latin typeface="Segoe UI"/>
              </a:rPr>
              <a:t>›  </a:t>
            </a:r>
            <a:r>
              <a:rPr sz="1250" b="1">
                <a:solidFill>
                  <a:srgbClr val="1A2530"/>
                </a:solidFill>
                <a:latin typeface="Segoe UI"/>
              </a:rPr>
              <a:t>Sample Record</a:t>
            </a:r>
            <a:r>
              <a:rPr sz="1050" b="0">
                <a:solidFill>
                  <a:srgbClr val="5A6B78"/>
                </a:solidFill>
                <a:latin typeface="Segoe UI"/>
              </a:rPr>
              <a:t>   Awaited → Received → Tested → Disposed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206240"/>
            <a:ext cx="4800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8A80"/>
                </a:solidFill>
                <a:latin typeface="Segoe UI"/>
              </a:rPr>
              <a:t>›  </a:t>
            </a:r>
            <a:r>
              <a:rPr sz="1250" b="1">
                <a:solidFill>
                  <a:srgbClr val="1A2530"/>
                </a:solidFill>
                <a:latin typeface="Segoe UI"/>
              </a:rPr>
              <a:t>Visit Record</a:t>
            </a:r>
            <a:r>
              <a:rPr sz="1050" b="0">
                <a:solidFill>
                  <a:srgbClr val="5A6B78"/>
                </a:solidFill>
                <a:latin typeface="Segoe UI"/>
              </a:rPr>
              <a:t>   Planned → Completed, outcome &amp; sign-off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741164"/>
            <a:ext cx="4800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8A80"/>
                </a:solidFill>
                <a:latin typeface="Segoe UI"/>
              </a:rPr>
              <a:t>›  </a:t>
            </a:r>
            <a:r>
              <a:rPr sz="1250" b="1">
                <a:solidFill>
                  <a:srgbClr val="1A2530"/>
                </a:solidFill>
                <a:latin typeface="Segoe UI"/>
              </a:rPr>
              <a:t>CAPA Record</a:t>
            </a:r>
            <a:r>
              <a:rPr sz="1050" b="0">
                <a:solidFill>
                  <a:srgbClr val="5A6B78"/>
                </a:solidFill>
                <a:latin typeface="Segoe UI"/>
              </a:rPr>
              <a:t>   root cause, corrective, preventive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276088"/>
            <a:ext cx="4800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8A80"/>
                </a:solidFill>
                <a:latin typeface="Segoe UI"/>
              </a:rPr>
              <a:t>›  </a:t>
            </a:r>
            <a:r>
              <a:rPr sz="1250" b="1">
                <a:solidFill>
                  <a:srgbClr val="1A2530"/>
                </a:solidFill>
                <a:latin typeface="Segoe UI"/>
              </a:rPr>
              <a:t>Credit Note</a:t>
            </a:r>
            <a:r>
              <a:rPr sz="1050" b="0">
                <a:solidFill>
                  <a:srgbClr val="5A6B78"/>
                </a:solidFill>
                <a:latin typeface="Segoe UI"/>
              </a:rPr>
              <a:t>   SAP CN number written back at closure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05332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12A40"/>
                </a:solidFill>
                <a:latin typeface="Segoe UI"/>
              </a:rPr>
              <a:t>Integrity by design:  </a:t>
            </a:r>
            <a:r>
              <a:rPr sz="1150" b="0">
                <a:solidFill>
                  <a:srgbClr val="5A6B78"/>
                </a:solidFill>
                <a:latin typeface="Segoe UI"/>
              </a:rPr>
              <a:t>money stored as numeric · defective value is a generated column · all statuses CHECK-constrained · audit log append-only at the DB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04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The 8-stage complaint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615184" cy="786384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572768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Logged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481328"/>
            <a:ext cx="2615184" cy="786384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572768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TS_Review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481328"/>
            <a:ext cx="2615184" cy="786384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572768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QC_Review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QC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1481328"/>
            <a:ext cx="2615184" cy="786384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572768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Sample_Awaited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QC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53344" y="137160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53344" y="1371600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42032"/>
            <a:ext cx="2615184" cy="786384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633472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CAPA_Pending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0128" y="2542032"/>
            <a:ext cx="2615184" cy="786384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633472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Ops_Head_Approval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7336" y="2542032"/>
            <a:ext cx="2615184" cy="786384"/>
          </a:xfrm>
          <a:prstGeom prst="roundRect">
            <a:avLst/>
          </a:prstGeom>
          <a:solidFill>
            <a:srgbClr val="B56A1E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7064" y="2633472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Marketing_Review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Mktg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2542032"/>
            <a:ext cx="2615184" cy="786384"/>
          </a:xfrm>
          <a:prstGeom prst="roundRect">
            <a:avLst/>
          </a:prstGeom>
          <a:solidFill>
            <a:srgbClr val="B56A1E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2633472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Marketing_Head_Appr.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Mktg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602736"/>
            <a:ext cx="2615184" cy="786384"/>
          </a:xfrm>
          <a:prstGeom prst="roundRect">
            <a:avLst/>
          </a:prstGeom>
          <a:solidFill>
            <a:srgbClr val="C05340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694176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MD_Approval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349300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3493008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GATE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0128" y="3602736"/>
            <a:ext cx="2615184" cy="786384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9856" y="3694176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Visit_Pending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Sales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38928" y="349300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3493008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17336" y="3602736"/>
            <a:ext cx="2615184" cy="786384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7064" y="3694176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Finance_Processing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Fin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46136" y="349300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46136" y="3493008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GATE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24544" y="3602736"/>
            <a:ext cx="2615184" cy="786384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34272" y="3694176"/>
            <a:ext cx="2395728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Closed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DDE6EC"/>
                </a:solidFill>
                <a:latin typeface="Segoe UI"/>
              </a:rPr>
              <a:t>—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099816" y="1764792"/>
            <a:ext cx="182880" cy="219456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5907024" y="1764792"/>
            <a:ext cx="182880" cy="219456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8714232" y="1764792"/>
            <a:ext cx="182880" cy="219456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3099816" y="2825496"/>
            <a:ext cx="182880" cy="219456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5907024" y="2825496"/>
            <a:ext cx="182880" cy="219456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8714232" y="2825496"/>
            <a:ext cx="182880" cy="219456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3099816" y="3886200"/>
            <a:ext cx="182880" cy="219456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5907024" y="3886200"/>
            <a:ext cx="182880" cy="219456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ight Arrow 48"/>
          <p:cNvSpPr/>
          <p:nvPr/>
        </p:nvSpPr>
        <p:spPr>
          <a:xfrm>
            <a:off x="8714232" y="3886200"/>
            <a:ext cx="182880" cy="219456"/>
          </a:xfrm>
          <a:prstGeom prst="right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own Arrow 49"/>
          <p:cNvSpPr/>
          <p:nvPr/>
        </p:nvSpPr>
        <p:spPr>
          <a:xfrm>
            <a:off x="10122408" y="2249424"/>
            <a:ext cx="219456" cy="182880"/>
          </a:xfrm>
          <a:prstGeom prst="down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10122408" y="3310127"/>
            <a:ext cx="219456" cy="182880"/>
          </a:xfrm>
          <a:prstGeom prst="downArrow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4709160"/>
            <a:ext cx="11192256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47914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2A40"/>
                </a:solidFill>
                <a:latin typeface="Segoe UI"/>
              </a:rPr>
              <a:t>SIDE-STATES (reachable from any active status)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232" y="5138928"/>
            <a:ext cx="146304" cy="457200"/>
          </a:xfrm>
          <a:prstGeom prst="roundRect">
            <a:avLst/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" y="512064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A2530"/>
                </a:solidFill>
                <a:latin typeface="Segoe UI"/>
              </a:rPr>
              <a:t>Rejected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B78"/>
                </a:solidFill>
                <a:latin typeface="Segoe UI"/>
              </a:rPr>
              <a:t>returns to previous status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16552" y="5138928"/>
            <a:ext cx="146304" cy="457200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72584" y="512064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A2530"/>
                </a:solidFill>
                <a:latin typeface="Segoe UI"/>
              </a:rPr>
              <a:t>Clarification_Sought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B78"/>
                </a:solidFill>
                <a:latin typeface="Segoe UI"/>
              </a:rPr>
              <a:t>pauses, resumes when resolved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19871" y="5138928"/>
            <a:ext cx="146304" cy="457200"/>
          </a:xfrm>
          <a:prstGeom prst="roundRect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75903" y="512064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A2530"/>
                </a:solidFill>
                <a:latin typeface="Segoe UI"/>
              </a:rPr>
              <a:t>Auto_Closed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B78"/>
                </a:solidFill>
                <a:latin typeface="Segoe UI"/>
              </a:rPr>
              <a:t>auto-closed after SLA lapse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04 · 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Automated gates govern every settlement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530"/>
                </a:solidFill>
                <a:latin typeface="Segoe UI"/>
              </a:rPr>
              <a:t>Gates are evaluated by the engine — not left to the user. They fire automatically from the complaint's own data, so approvals can never be skipped.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550468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109728" cy="1691640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0288" y="250545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505456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QC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42032"/>
            <a:ext cx="3675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12A40"/>
                </a:solidFill>
                <a:latin typeface="Segoe UI Semibold"/>
              </a:rPr>
              <a:t>Sample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560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8"/>
                </a:solidFill>
                <a:latin typeface="Segoe UI"/>
              </a:rPr>
              <a:t>QC_Review cannot be approved until the physical sample status is Received or beyond.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286000"/>
            <a:ext cx="550468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0488" y="2286000"/>
            <a:ext cx="109728" cy="1691640"/>
          </a:xfrm>
          <a:prstGeom prst="roundRect">
            <a:avLst/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77855" y="250545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77855" y="2505456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2542032"/>
            <a:ext cx="3675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12A40"/>
                </a:solidFill>
                <a:latin typeface="Segoe UI Semibold"/>
              </a:rPr>
              <a:t>MD Approval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3063240"/>
            <a:ext cx="49560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8"/>
                </a:solidFill>
                <a:latin typeface="Segoe UI"/>
              </a:rPr>
              <a:t>Triggered when settlement &gt; ₹1,00,000, or a sales-policy breach forces MD sign-off.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78808"/>
            <a:ext cx="550468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178808"/>
            <a:ext cx="109728" cy="1691640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90288" y="439826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4398264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3675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12A40"/>
                </a:solidFill>
                <a:latin typeface="Segoe UI Semibold"/>
              </a:rPr>
              <a:t>Visit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56048"/>
            <a:ext cx="49560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8"/>
                </a:solidFill>
                <a:latin typeface="Segoe UI"/>
              </a:rPr>
              <a:t>Triggered when the customer is a key account, or settlement &gt; ₹50,000.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178808"/>
            <a:ext cx="550468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90488" y="4178808"/>
            <a:ext cx="109728" cy="16916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277855" y="439826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77855" y="4398264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7" y="4434840"/>
            <a:ext cx="3675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12A40"/>
                </a:solidFill>
                <a:latin typeface="Segoe UI Semibold"/>
              </a:rPr>
              <a:t>Finance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7" y="4956048"/>
            <a:ext cx="49560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B78"/>
                </a:solidFill>
                <a:latin typeface="Segoe UI"/>
              </a:rPr>
              <a:t>A complaint cannot reach Closed until a SAP Credit Note number exists in CCMS.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05 ·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SAP S/4HANA — 6 integration touchpoints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1192256" cy="4572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029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6304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Touchpoint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463040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463040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463040"/>
            <a:ext cx="264261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SAP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20240"/>
            <a:ext cx="111922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20240"/>
            <a:ext cx="502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8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920240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530"/>
                </a:solidFill>
                <a:latin typeface="Segoe UI"/>
              </a:rPr>
              <a:t>Invoice lookup (qty, price)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920240"/>
            <a:ext cx="2057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8A80"/>
                </a:solidFill>
                <a:latin typeface="Segoe UI"/>
              </a:rPr>
              <a:t>SAP → CCMS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920240"/>
            <a:ext cx="1783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920240"/>
            <a:ext cx="2642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API_BILLING_DOCUMENT_SRV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87168"/>
            <a:ext cx="11192256" cy="566928"/>
          </a:xfrm>
          <a:prstGeom prst="rect">
            <a:avLst/>
          </a:prstGeom>
          <a:solidFill>
            <a:srgbClr val="EEF2F5"/>
          </a:solidFill>
          <a:ln w="635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487168"/>
            <a:ext cx="502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8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487168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530"/>
                </a:solidFill>
                <a:latin typeface="Segoe UI"/>
              </a:rPr>
              <a:t>Customer / Distributor master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487168"/>
            <a:ext cx="2057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8A80"/>
                </a:solidFill>
                <a:latin typeface="Segoe UI"/>
              </a:rPr>
              <a:t>SAP → CCMS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487168"/>
            <a:ext cx="1783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Nightly 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487168"/>
            <a:ext cx="2642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API_BUSINESS_PARTNER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054096"/>
            <a:ext cx="111922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054096"/>
            <a:ext cx="502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8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054096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530"/>
                </a:solidFill>
                <a:latin typeface="Segoe UI"/>
              </a:rPr>
              <a:t>Product / SKU master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054096"/>
            <a:ext cx="2057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8A80"/>
                </a:solidFill>
                <a:latin typeface="Segoe UI"/>
              </a:rPr>
              <a:t>SAP → CCMS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054096"/>
            <a:ext cx="1783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Nightly batch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054096"/>
            <a:ext cx="2642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API_PRODUCT_SRV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21024"/>
            <a:ext cx="11192256" cy="566928"/>
          </a:xfrm>
          <a:prstGeom prst="rect">
            <a:avLst/>
          </a:prstGeom>
          <a:solidFill>
            <a:srgbClr val="EEF2F5"/>
          </a:solidFill>
          <a:ln w="635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621024"/>
            <a:ext cx="502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8"/>
                </a:solidFill>
                <a:latin typeface="Segoe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621024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530"/>
                </a:solidFill>
                <a:latin typeface="Segoe UI"/>
              </a:rPr>
              <a:t>Sales policy / pricing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3621024"/>
            <a:ext cx="2057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8A80"/>
                </a:solidFill>
                <a:latin typeface="Segoe UI"/>
              </a:rPr>
              <a:t>SAP → CCMS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621024"/>
            <a:ext cx="1783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Nightly batch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621024"/>
            <a:ext cx="2642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API_SLSPRICINGCONDITIONRECORD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187952"/>
            <a:ext cx="111922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187952"/>
            <a:ext cx="502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8"/>
                </a:solidFill>
                <a:latin typeface="Segoe U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187952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530"/>
                </a:solidFill>
                <a:latin typeface="Segoe UI"/>
              </a:rPr>
              <a:t>Credit Note creation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4187952"/>
            <a:ext cx="2057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0912F"/>
                </a:solidFill>
                <a:latin typeface="Segoe UI"/>
              </a:rPr>
              <a:t>CCMS → SAP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187952"/>
            <a:ext cx="1783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Real-time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187952"/>
            <a:ext cx="2642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API_SALES_ORDER_SRV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754880"/>
            <a:ext cx="11192256" cy="566928"/>
          </a:xfrm>
          <a:prstGeom prst="rect">
            <a:avLst/>
          </a:prstGeom>
          <a:solidFill>
            <a:srgbClr val="EEF2F5"/>
          </a:solidFill>
          <a:ln w="635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754880"/>
            <a:ext cx="502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8"/>
                </a:solidFill>
                <a:latin typeface="Segoe U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754880"/>
            <a:ext cx="3520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530"/>
                </a:solidFill>
                <a:latin typeface="Segoe UI"/>
              </a:rPr>
              <a:t>Credit Note write-back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4754880"/>
            <a:ext cx="2057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8A80"/>
                </a:solidFill>
                <a:latin typeface="Segoe UI"/>
              </a:rPr>
              <a:t>SAP → CCMS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754880"/>
            <a:ext cx="1783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Real-time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754880"/>
            <a:ext cx="2642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response to #5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45896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12A40"/>
                </a:solidFill>
                <a:latin typeface="Segoe UI"/>
              </a:rPr>
              <a:t>Mock / live switch:  </a:t>
            </a:r>
            <a:r>
              <a:rPr sz="1150" b="0">
                <a:solidFill>
                  <a:srgbClr val="5A6B78"/>
                </a:solidFill>
                <a:latin typeface="Segoe UI"/>
              </a:rPr>
              <a:t>the whole demo runs in MOCK mode with realistic SAP responses; a single .env flag (SAP_USE_MOCK=false) points it at a real gateway — zero code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Security &amp;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50468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27632"/>
            <a:ext cx="73152" cy="128016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64208"/>
            <a:ext cx="504748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Authentication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JWT issued on login, carried in an httpOnly cookie (8-hour expiry); logout revokes the token server-side.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481328"/>
            <a:ext cx="550468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627632"/>
            <a:ext cx="73152" cy="1280160"/>
          </a:xfrm>
          <a:prstGeom prst="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64208"/>
            <a:ext cx="504748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Role-Based Access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12 roles; every workflow action is checked against the role allowed to act at that stage — wrong role is refused with 403.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36976"/>
            <a:ext cx="550468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83280"/>
            <a:ext cx="73152" cy="128016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419856"/>
            <a:ext cx="504748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Read Scoping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Enforced by the API, not the UI: a junior role only ever receives the complaints in its own queue.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236976"/>
            <a:ext cx="550468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3383280"/>
            <a:ext cx="73152" cy="12801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19856"/>
            <a:ext cx="504748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2A40"/>
                </a:solidFill>
                <a:latin typeface="Segoe UI Semibold"/>
              </a:rPr>
              <a:t>Immutable Audit 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8"/>
                </a:solidFill>
                <a:latin typeface="Segoe UI"/>
              </a:rPr>
              <a:t>Every human and system action is logged, checksummed and append-only — verified tamper-free at runtime.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28032"/>
            <a:ext cx="11192256" cy="960120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011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DEFENCE IN DEPTH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30368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30368"/>
            <a:ext cx="2606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Helmet headers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5230368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5230368"/>
            <a:ext cx="2606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CORS + credentials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230368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230368"/>
            <a:ext cx="2606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bcrypt password hashing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5230368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5230368"/>
            <a:ext cx="2606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Rate limiting (global + auth)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614416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14416"/>
            <a:ext cx="2606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Input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5614416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614416"/>
            <a:ext cx="2606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HTTPS enforced in prod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614416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614416"/>
            <a:ext cx="2606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Frozen client config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5614416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5614416"/>
            <a:ext cx="2606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Path-traversal guards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06 ·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Twelve role-based portals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530"/>
                </a:solidFill>
                <a:latin typeface="Segoe UI"/>
              </a:rPr>
              <a:t>Each role signs into its own portal — its own accent colour, navigation, and action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28016" cy="896112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084831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TS Officer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Creates &amp; forwards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65960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965960"/>
            <a:ext cx="128016" cy="896112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084831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TS Head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Approves TS_Review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65960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965960"/>
            <a:ext cx="128016" cy="896112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2084831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QC Analyst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Logs &amp; tests samples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08376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008376"/>
            <a:ext cx="128016" cy="896112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127248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QC Manager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Approves QC_Review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008376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3008376"/>
            <a:ext cx="128016" cy="896112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3127248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Operations Analyst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Documents CAPA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008376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3008376"/>
            <a:ext cx="128016" cy="896112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3127248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Operations Head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Approves Ops stage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050791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4050791"/>
            <a:ext cx="128016" cy="896112"/>
          </a:xfrm>
          <a:prstGeom prst="roundRect">
            <a:avLst/>
          </a:prstGeom>
          <a:solidFill>
            <a:srgbClr val="B5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169663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Product Manager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Marketing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050791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97680" y="4050791"/>
            <a:ext cx="128016" cy="896112"/>
          </a:xfrm>
          <a:prstGeom prst="roundRect">
            <a:avLst/>
          </a:prstGeom>
          <a:solidFill>
            <a:srgbClr val="B5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576" y="4169663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Marketing Head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Approves Marketing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4050791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92440" y="4050791"/>
            <a:ext cx="128016" cy="896112"/>
          </a:xfrm>
          <a:prstGeom prst="roundRect">
            <a:avLst/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4169663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Managing Director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High-value / breach sign-off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93208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5093208"/>
            <a:ext cx="128016" cy="89611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" y="5212080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Finance Officer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Raises Credit Note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5093208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297680" y="5093208"/>
            <a:ext cx="128016" cy="896112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08576" y="5212080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Sales / KAM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Customer visits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5093208"/>
            <a:ext cx="363016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92440" y="5093208"/>
            <a:ext cx="128016" cy="896112"/>
          </a:xfrm>
          <a:prstGeom prst="roundRect">
            <a:avLst/>
          </a:prstGeom>
          <a:solidFill>
            <a:srgbClr val="33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03336" y="5212080"/>
            <a:ext cx="317296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12A40"/>
                </a:solidFill>
                <a:latin typeface="Segoe UI Semibold"/>
              </a:rPr>
              <a:t>Administrator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Full access, all stages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07 ·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Product screens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humb_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27048"/>
            <a:ext cx="3392424" cy="1833742"/>
          </a:xfrm>
          <a:prstGeom prst="rect">
            <a:avLst/>
          </a:prstGeom>
          <a:ln w="9525">
            <a:solidFill>
              <a:srgbClr val="D5DDE3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67512" y="3379078"/>
            <a:ext cx="3300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2A40"/>
                </a:solidFill>
                <a:latin typeface="Segoe UI Semibold"/>
              </a:rPr>
              <a:t>Sign in</a:t>
            </a:r>
            <a:r>
              <a:rPr sz="900" b="0">
                <a:solidFill>
                  <a:srgbClr val="5A6B78"/>
                </a:solidFill>
                <a:latin typeface="Segoe UI"/>
              </a:rPr>
              <a:t>   One system, a portal per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417320"/>
            <a:ext cx="3611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umb_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527048"/>
            <a:ext cx="3392424" cy="1833742"/>
          </a:xfrm>
          <a:prstGeom prst="rect">
            <a:avLst/>
          </a:prstGeom>
          <a:ln w="9525">
            <a:solidFill>
              <a:srgbClr val="D5DDE3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453128" y="3379078"/>
            <a:ext cx="3300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2A40"/>
                </a:solidFill>
                <a:latin typeface="Segoe UI Semibold"/>
              </a:rPr>
              <a:t>Dashboard</a:t>
            </a:r>
            <a:r>
              <a:rPr sz="900" b="0">
                <a:solidFill>
                  <a:srgbClr val="5A6B78"/>
                </a:solidFill>
                <a:latin typeface="Segoe UI"/>
              </a:rPr>
              <a:t>   Your action queue, KPIs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417320"/>
            <a:ext cx="3611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humb_03-complai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527048"/>
            <a:ext cx="3392424" cy="1833742"/>
          </a:xfrm>
          <a:prstGeom prst="rect">
            <a:avLst/>
          </a:prstGeom>
          <a:ln w="9525">
            <a:solidFill>
              <a:srgbClr val="D5DDE3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238744" y="3379078"/>
            <a:ext cx="3300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2A40"/>
                </a:solidFill>
                <a:latin typeface="Segoe UI Semibold"/>
              </a:rPr>
              <a:t>Complaints</a:t>
            </a:r>
            <a:r>
              <a:rPr sz="900" b="0">
                <a:solidFill>
                  <a:srgbClr val="5A6B78"/>
                </a:solidFill>
                <a:latin typeface="Segoe UI"/>
              </a:rPr>
              <a:t>   Scoped to what you may see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95928"/>
            <a:ext cx="3611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humb_05-new-compla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105656"/>
            <a:ext cx="3392424" cy="1833742"/>
          </a:xfrm>
          <a:prstGeom prst="rect">
            <a:avLst/>
          </a:prstGeom>
          <a:ln w="9525">
            <a:solidFill>
              <a:srgbClr val="D5DDE3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667512" y="5957686"/>
            <a:ext cx="3300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2A40"/>
                </a:solidFill>
                <a:latin typeface="Segoe UI Semibold"/>
              </a:rPr>
              <a:t>New complaint</a:t>
            </a:r>
            <a:r>
              <a:rPr sz="900" b="0">
                <a:solidFill>
                  <a:srgbClr val="5A6B78"/>
                </a:solidFill>
                <a:latin typeface="Segoe UI"/>
              </a:rPr>
              <a:t>   Invoice pulled live from SAP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995928"/>
            <a:ext cx="3611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humb_04-complaint-det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4105656"/>
            <a:ext cx="3392424" cy="1833742"/>
          </a:xfrm>
          <a:prstGeom prst="rect">
            <a:avLst/>
          </a:prstGeom>
          <a:ln w="9525">
            <a:solidFill>
              <a:srgbClr val="D5DDE3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453128" y="5957686"/>
            <a:ext cx="3300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2A40"/>
                </a:solidFill>
                <a:latin typeface="Segoe UI Semibold"/>
              </a:rPr>
              <a:t>Complaint detail</a:t>
            </a:r>
            <a:r>
              <a:rPr sz="900" b="0">
                <a:solidFill>
                  <a:srgbClr val="5A6B78"/>
                </a:solidFill>
                <a:latin typeface="Segoe UI"/>
              </a:rPr>
              <a:t>   The whole journey on one page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3995928"/>
            <a:ext cx="3611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humb_06-audit-lo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4105656"/>
            <a:ext cx="3392424" cy="1833742"/>
          </a:xfrm>
          <a:prstGeom prst="rect">
            <a:avLst/>
          </a:prstGeom>
          <a:ln w="9525">
            <a:solidFill>
              <a:srgbClr val="D5DDE3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8238744" y="5957686"/>
            <a:ext cx="3300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12A40"/>
                </a:solidFill>
                <a:latin typeface="Segoe UI Semibold"/>
              </a:rPr>
              <a:t>Audit log</a:t>
            </a:r>
            <a:r>
              <a:rPr sz="900" b="0">
                <a:solidFill>
                  <a:srgbClr val="5A6B78"/>
                </a:solidFill>
                <a:latin typeface="Segoe UI"/>
              </a:rPr>
              <a:t>   Every action, append-only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07 ·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Tested &amp; verified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651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2651760" cy="109728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2651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12A40"/>
                </a:solidFill>
                <a:latin typeface="Segoe UI Semibold"/>
              </a:rPr>
              <a:t>32 /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unit tests passing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481328"/>
            <a:ext cx="2651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9272" y="1481328"/>
            <a:ext cx="2651760" cy="109728"/>
          </a:xfrm>
          <a:prstGeom prst="round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645920"/>
            <a:ext cx="2651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12A40"/>
                </a:solidFill>
                <a:latin typeface="Segoe UI Semibold"/>
              </a:rPr>
              <a:t>12 → 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3317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full lifecycle driven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1481328"/>
            <a:ext cx="2651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35624" y="1481328"/>
            <a:ext cx="2651760" cy="1097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1645920"/>
            <a:ext cx="2651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12A40"/>
                </a:solidFill>
                <a:latin typeface="Segoe UI Semibold"/>
              </a:rPr>
              <a:t>0 tampered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23317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audit entries (integrity verified)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481328"/>
            <a:ext cx="2651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51976" y="1481328"/>
            <a:ext cx="2651760" cy="109728"/>
          </a:xfrm>
          <a:prstGeom prst="round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1976" y="1645920"/>
            <a:ext cx="2651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12A40"/>
                </a:solidFill>
                <a:latin typeface="Segoe UI Semibold"/>
              </a:rPr>
              <a:t>4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23317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8"/>
                </a:solidFill>
                <a:latin typeface="Segoe UI"/>
              </a:rPr>
              <a:t>enforced automatically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971800"/>
            <a:ext cx="11192256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1272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What was verified against the live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611880"/>
            <a:ext cx="10881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8B57"/>
                </a:solidFill>
                <a:latin typeface="Segoe UI"/>
              </a:rPr>
              <a:t>✓  </a:t>
            </a:r>
            <a:r>
              <a:rPr sz="1200" b="0">
                <a:solidFill>
                  <a:srgbClr val="1A2530"/>
                </a:solidFill>
                <a:latin typeface="Segoe UI"/>
              </a:rPr>
              <a:t>Auth: login → JWT cookie, logout revokes, protected routes return 401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959352"/>
            <a:ext cx="10881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8B57"/>
                </a:solidFill>
                <a:latin typeface="Segoe UI"/>
              </a:rPr>
              <a:t>✓  </a:t>
            </a:r>
            <a:r>
              <a:rPr sz="1200" b="0">
                <a:solidFill>
                  <a:srgbClr val="1A2530"/>
                </a:solidFill>
                <a:latin typeface="Segoe UI"/>
              </a:rPr>
              <a:t>Full lifecycle: Logged → … → Closed with sample, CAPA, visit &amp; credit 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306824"/>
            <a:ext cx="10881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8B57"/>
                </a:solidFill>
                <a:latin typeface="Segoe UI"/>
              </a:rPr>
              <a:t>✓  </a:t>
            </a:r>
            <a:r>
              <a:rPr sz="1200" b="0">
                <a:solidFill>
                  <a:srgbClr val="1A2530"/>
                </a:solidFill>
                <a:latin typeface="Segoe UI"/>
              </a:rPr>
              <a:t>Sample gate blocks QC approval (422); finance gate blocks close without CN (422)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654296"/>
            <a:ext cx="10881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8B57"/>
                </a:solidFill>
                <a:latin typeface="Segoe UI"/>
              </a:rPr>
              <a:t>✓  </a:t>
            </a:r>
            <a:r>
              <a:rPr sz="1200" b="0">
                <a:solidFill>
                  <a:srgbClr val="1A2530"/>
                </a:solidFill>
                <a:latin typeface="Segoe UI"/>
              </a:rPr>
              <a:t>RBAC: wrong-role action refused (403); read scoping limits list per 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01768"/>
            <a:ext cx="10881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8B57"/>
                </a:solidFill>
                <a:latin typeface="Segoe UI"/>
              </a:rPr>
              <a:t>✓  </a:t>
            </a:r>
            <a:r>
              <a:rPr sz="1200" b="0">
                <a:solidFill>
                  <a:srgbClr val="1A2530"/>
                </a:solidFill>
                <a:latin typeface="Segoe UI"/>
              </a:rPr>
              <a:t>SAP touchpoints: real-time invoice lookup + credit-note push &amp; write-back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349240"/>
            <a:ext cx="10881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8B57"/>
                </a:solidFill>
                <a:latin typeface="Segoe UI"/>
              </a:rPr>
              <a:t>✓  </a:t>
            </a:r>
            <a:r>
              <a:rPr sz="1200" b="0">
                <a:solidFill>
                  <a:srgbClr val="1A2530"/>
                </a:solidFill>
                <a:latin typeface="Segoe UI"/>
              </a:rPr>
              <a:t>Audit log: 75 entries verified append-only and tamper-free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07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Live demo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0912F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50468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810512"/>
            <a:ext cx="822960" cy="822960"/>
          </a:xfrm>
          <a:prstGeom prst="ellipse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0912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737360"/>
            <a:ext cx="408736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Sign in by role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A6B78"/>
                </a:solidFill>
                <a:latin typeface="Segoe UI"/>
              </a:rPr>
              <a:t>Show the role-specific portal, accent colour and action queue.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554480"/>
            <a:ext cx="550468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9088" y="1810512"/>
            <a:ext cx="822960" cy="822960"/>
          </a:xfrm>
          <a:prstGeom prst="ellipse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1051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0912F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1737360"/>
            <a:ext cx="408736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Create a complaint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A6B78"/>
                </a:solidFill>
                <a:latin typeface="Segoe UI"/>
              </a:rPr>
              <a:t>Enter an invoice — SAP returns header &amp; line items in real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550468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364991"/>
            <a:ext cx="822960" cy="822960"/>
          </a:xfrm>
          <a:prstGeom prst="ellipse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1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0912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291840"/>
            <a:ext cx="408736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Watch the gates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A6B78"/>
                </a:solidFill>
                <a:latin typeface="Segoe UI"/>
              </a:rPr>
              <a:t>Settlement value auto-triggers MD approval and the mandatory visit.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3108960"/>
            <a:ext cx="550468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3364991"/>
            <a:ext cx="822960" cy="822960"/>
          </a:xfrm>
          <a:prstGeom prst="ellipse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364991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0912F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3291840"/>
            <a:ext cx="408736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Move through stages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A6B78"/>
                </a:solidFill>
                <a:latin typeface="Segoe UI"/>
              </a:rPr>
              <a:t>TS → QC (sample gate) → CAPA → Ops → Marketing → MD → Visit.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63440"/>
            <a:ext cx="550468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919472"/>
            <a:ext cx="822960" cy="822960"/>
          </a:xfrm>
          <a:prstGeom prst="ellipse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194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0912F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846320"/>
            <a:ext cx="408736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Raise the credit note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A6B78"/>
                </a:solidFill>
                <a:latin typeface="Segoe UI"/>
              </a:rPr>
              <a:t>Finance pushes to SAP; CN number is written back and complaint closes.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663440"/>
            <a:ext cx="550468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  <a:effectLst>
            <a:outerShdw blurRad="90000" dist="38100" dir="5400000" rotWithShape="0">
              <a:srgbClr val="1A25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4919472"/>
            <a:ext cx="822960" cy="822960"/>
          </a:xfrm>
          <a:prstGeom prst="ellipse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9194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0912F"/>
                </a:solidFill>
                <a:latin typeface="Segoe UI Semibold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4846320"/>
            <a:ext cx="408736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2A40"/>
                </a:solidFill>
                <a:latin typeface="Segoe UI Semibold"/>
              </a:rPr>
              <a:t>Open the audit log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A6B78"/>
                </a:solidFill>
                <a:latin typeface="Segoe UI"/>
              </a:rPr>
              <a:t>Every human &amp; system action, checksummed and append-only.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144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12A40"/>
                </a:solidFill>
                <a:latin typeface="Segoe UI"/>
              </a:rPr>
              <a:t>Running locally:  </a:t>
            </a:r>
            <a:r>
              <a:rPr sz="1150" b="0">
                <a:solidFill>
                  <a:srgbClr val="5A6B78"/>
                </a:solidFill>
                <a:latin typeface="Segoe UI"/>
              </a:rPr>
              <a:t>frontend on http://localhost:5173   ·   API on http://localhost:3000 (MOCK SAP mode)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912F"/>
                </a:solidFill>
                <a:latin typeface="Segoe UI"/>
              </a:rPr>
              <a:t>08 ·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Nobody has to chase an update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0912F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11183112" cy="749808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609344"/>
            <a:ext cx="118872" cy="457200"/>
          </a:xfrm>
          <a:prstGeom prst="roundRect">
            <a:avLst>
              <a:gd name="adj" fmla="val 50000"/>
            </a:avLst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463040"/>
            <a:ext cx="105156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2530"/>
                </a:solidFill>
                <a:latin typeface="Segoe UI"/>
              </a:rPr>
              <a:t>The moment a complaint changes status, CCMS emails the two people who care — the customer, and the staff member who owns the next step. No manual follow-up, no missed hand-offs.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87168"/>
            <a:ext cx="5431536" cy="2139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487168"/>
            <a:ext cx="146304" cy="2139696"/>
          </a:xfrm>
          <a:prstGeom prst="roundRect">
            <a:avLst>
              <a:gd name="adj" fmla="val 50000"/>
            </a:avLst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67004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912F"/>
                </a:solidFill>
                <a:latin typeface="Segoe UI"/>
              </a:rPr>
              <a:t>EXTERNAL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07792"/>
            <a:ext cx="4882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2A40"/>
                </a:solidFill>
                <a:latin typeface="Segoe UI Semibold"/>
              </a:rPr>
              <a:t>The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419856"/>
            <a:ext cx="4828032" cy="1133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•  </a:t>
            </a:r>
            <a:r>
              <a:rPr sz="1100" b="0">
                <a:solidFill>
                  <a:srgbClr val="1A2530"/>
                </a:solidFill>
                <a:latin typeface="Segoe UI"/>
              </a:rPr>
              <a:t>Branded email at every milestone — acknowledgement through credit note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•  </a:t>
            </a:r>
            <a:r>
              <a:rPr sz="1100" b="0">
                <a:solidFill>
                  <a:srgbClr val="1A2530"/>
                </a:solidFill>
                <a:latin typeface="Segoe UI"/>
              </a:rPr>
              <a:t>Plain language: complaint number, current status, and what happens next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•  </a:t>
            </a:r>
            <a:r>
              <a:rPr sz="1100" b="0">
                <a:solidFill>
                  <a:srgbClr val="1A2530"/>
                </a:solidFill>
                <a:latin typeface="Segoe UI"/>
              </a:rPr>
              <a:t>Told on exception paths too — clarification, rejection, auto-close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2487168"/>
            <a:ext cx="5431536" cy="2139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2487168"/>
            <a:ext cx="146304" cy="2139696"/>
          </a:xfrm>
          <a:prstGeom prst="roundRect">
            <a:avLst>
              <a:gd name="adj" fmla="val 50000"/>
            </a:avLst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67004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8A80"/>
                </a:solidFill>
                <a:latin typeface="Segoe UI"/>
              </a:rPr>
              <a:t>PER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907792"/>
            <a:ext cx="4882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2A40"/>
                </a:solidFill>
                <a:latin typeface="Segoe UI Semibold"/>
              </a:rPr>
              <a:t>Internal 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419856"/>
            <a:ext cx="4828032" cy="1133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•  </a:t>
            </a:r>
            <a:r>
              <a:rPr sz="1100" b="0">
                <a:solidFill>
                  <a:srgbClr val="1A2530"/>
                </a:solidFill>
                <a:latin typeface="Segoe UI"/>
              </a:rPr>
              <a:t>The officer who owns the next stage gets an “action required” alert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•  </a:t>
            </a:r>
            <a:r>
              <a:rPr sz="1100" b="0">
                <a:solidFill>
                  <a:srgbClr val="1A2530"/>
                </a:solidFill>
                <a:latin typeface="Segoe UI"/>
              </a:rPr>
              <a:t>TS Officer → QC Analyst → Operations → MD → Finance, stage by stage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E0912F"/>
                </a:solidFill>
                <a:latin typeface="Segoe UI"/>
              </a:rPr>
              <a:t>•  </a:t>
            </a:r>
            <a:r>
              <a:rPr sz="1100" b="0">
                <a:solidFill>
                  <a:srgbClr val="1A2530"/>
                </a:solidFill>
                <a:latin typeface="Segoe UI"/>
              </a:rPr>
              <a:t>Supervisors receive automatic SLA-breach escalations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82896"/>
            <a:ext cx="3602736" cy="932688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0664" y="5157216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5038344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12A40"/>
                </a:solidFill>
                <a:latin typeface="Segoe UI Semibold"/>
              </a:rPr>
              <a:t>Persisted to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5358383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5A6B78"/>
                </a:solidFill>
                <a:latin typeface="Segoe UI"/>
              </a:rPr>
              <a:t>Every message is stored — the trail survives restarts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882896"/>
            <a:ext cx="3602736" cy="932688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5424" y="5157216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5038344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12A40"/>
                </a:solidFill>
                <a:latin typeface="Segoe UI Semibold"/>
              </a:rPr>
              <a:t>De-duplicated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5358383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5A6B78"/>
                </a:solidFill>
                <a:latin typeface="Segoe UI"/>
              </a:rPr>
              <a:t>The same milestone is never emailed twice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4882896"/>
            <a:ext cx="3602736" cy="932688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5157216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3648" y="5038344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12A40"/>
                </a:solidFill>
                <a:latin typeface="Segoe UI Semibold"/>
              </a:rPr>
              <a:t>Mock ↔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5358383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5A6B78"/>
                </a:solidFill>
                <a:latin typeface="Segoe UI"/>
              </a:rPr>
              <a:t>Flip one flag to switch on real delivery — no code change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912F"/>
                </a:solidFill>
                <a:latin typeface="Segoe UI"/>
              </a:rPr>
              <a:t>08 ·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The customer’s email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0912F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341071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1755648"/>
            <a:ext cx="384048" cy="384048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7556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1907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A40"/>
                </a:solidFill>
                <a:latin typeface="Segoe UI Semibold"/>
              </a:rPr>
              <a:t>Acknowledgement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39112"/>
            <a:ext cx="2542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78"/>
                </a:solidFill>
                <a:latin typeface="Segoe UI"/>
              </a:rPr>
              <a:t>On complaint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377440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912F"/>
                </a:solidFill>
                <a:latin typeface="Segoe UI"/>
              </a:rPr>
              <a:t>“We’ve received your complaint”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536192"/>
            <a:ext cx="341071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25696" y="1755648"/>
            <a:ext cx="384048" cy="384048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7556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171907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A40"/>
                </a:solidFill>
                <a:latin typeface="Segoe UI Semibold"/>
              </a:rPr>
              <a:t>Technical review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2039112"/>
            <a:ext cx="2542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78"/>
                </a:solidFill>
                <a:latin typeface="Segoe UI"/>
              </a:rPr>
              <a:t>Moves to QC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377440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912F"/>
                </a:solidFill>
                <a:latin typeface="Segoe UI"/>
              </a:rPr>
              <a:t>“Technical review complete”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536192"/>
            <a:ext cx="341071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29016" y="1755648"/>
            <a:ext cx="384048" cy="384048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6" y="17556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171907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A40"/>
                </a:solidFill>
                <a:latin typeface="Segoe UI Semibold"/>
              </a:rPr>
              <a:t>QC review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039112"/>
            <a:ext cx="2542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78"/>
                </a:solidFill>
                <a:latin typeface="Segoe UI"/>
              </a:rPr>
              <a:t>Moves to operations / CAPA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2377440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912F"/>
                </a:solidFill>
                <a:latin typeface="Segoe UI"/>
              </a:rPr>
              <a:t>“Quality check complete”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852928"/>
            <a:ext cx="341071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2376" y="3072384"/>
            <a:ext cx="384048" cy="384048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30723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035808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A40"/>
                </a:solidFill>
                <a:latin typeface="Segoe UI Semibold"/>
              </a:rPr>
              <a:t>Pending MD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355848"/>
            <a:ext cx="2542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78"/>
                </a:solidFill>
                <a:latin typeface="Segoe UI"/>
              </a:rPr>
              <a:t>High-value settlements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694176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912F"/>
                </a:solidFill>
                <a:latin typeface="Segoe UI"/>
              </a:rPr>
              <a:t>“Awaiting final approval”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2852928"/>
            <a:ext cx="341071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25696" y="3072384"/>
            <a:ext cx="384048" cy="384048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5696" y="30723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3035808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A40"/>
                </a:solidFill>
                <a:latin typeface="Segoe UI Semibold"/>
              </a:rPr>
              <a:t>Approved – credit note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59" y="3355848"/>
            <a:ext cx="2542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78"/>
                </a:solidFill>
                <a:latin typeface="Segoe UI"/>
              </a:rPr>
              <a:t>Handed to Finance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3694176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912F"/>
                </a:solidFill>
                <a:latin typeface="Segoe UI"/>
              </a:rPr>
              <a:t>“Approved, credit note in progress”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09560" y="2852928"/>
            <a:ext cx="341071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29016" y="3072384"/>
            <a:ext cx="384048" cy="384048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9016" y="30723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3035808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A40"/>
                </a:solidFill>
                <a:latin typeface="Segoe UI Semibold"/>
              </a:rPr>
              <a:t>Resolved &amp; closed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3355848"/>
            <a:ext cx="2542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78"/>
                </a:solidFill>
                <a:latin typeface="Segoe UI"/>
              </a:rPr>
              <a:t>Credit note issued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29016" y="3694176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912F"/>
                </a:solidFill>
                <a:latin typeface="Segoe UI"/>
              </a:rPr>
              <a:t>“Complaint resolved &amp; closed”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315968"/>
            <a:ext cx="11183112" cy="1481328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480559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12A40"/>
                </a:solidFill>
                <a:latin typeface="Segoe UI"/>
              </a:rPr>
              <a:t>EXCEPTION PATHS — the customer is told either way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937759"/>
            <a:ext cx="146304" cy="548640"/>
          </a:xfrm>
          <a:prstGeom prst="roundRect">
            <a:avLst>
              <a:gd name="adj" fmla="val 50000"/>
            </a:avLst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4919472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530"/>
                </a:solidFill>
                <a:latin typeface="Segoe UI"/>
              </a:rPr>
              <a:t>Clarification sought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21207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5A6B78"/>
                </a:solidFill>
                <a:latin typeface="Segoe UI"/>
              </a:rPr>
              <a:t>We need more information to proceed — reply to resume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34840" y="4937759"/>
            <a:ext cx="146304" cy="548640"/>
          </a:xfrm>
          <a:prstGeom prst="roundRect">
            <a:avLst>
              <a:gd name="adj" fmla="val 50000"/>
            </a:avLst>
          </a:prstGeom>
          <a:solidFill>
            <a:srgbClr val="C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59" y="4919472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530"/>
                </a:solidFill>
                <a:latin typeface="Segoe UI"/>
              </a:rPr>
              <a:t>Rejected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59" y="521207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5A6B78"/>
                </a:solidFill>
                <a:latin typeface="Segoe UI"/>
              </a:rPr>
              <a:t>Closed with the reason stated, courteously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8160" y="4937759"/>
            <a:ext cx="146304" cy="548640"/>
          </a:xfrm>
          <a:prstGeom prst="roundRect">
            <a:avLst>
              <a:gd name="adj" fmla="val 50000"/>
            </a:avLst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4919472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530"/>
                </a:solidFill>
                <a:latin typeface="Segoe UI"/>
              </a:rPr>
              <a:t>Auto-closed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21207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5A6B78"/>
                </a:solidFill>
                <a:latin typeface="Segoe UI"/>
              </a:rPr>
              <a:t>No customer response within the 30-day SLA window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912F"/>
                </a:solidFill>
                <a:latin typeface="Segoe UI"/>
              </a:rPr>
              <a:t>08 ·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Under the 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0912F"/>
                </a:solidFill>
                <a:latin typeface="Segoe U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3410712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3410712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792224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48256"/>
            <a:ext cx="29535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SMTP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596896"/>
            <a:ext cx="2935224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Emails are sent with nodemailer over an SMTP relay (Brevo). Host, port and credentials live in environment config — never in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536192"/>
            <a:ext cx="3410712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536192"/>
            <a:ext cx="3410712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792224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TOGGLE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048256"/>
            <a:ext cx="29535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Mock ↔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596896"/>
            <a:ext cx="2935224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A single NOTIFY_MODE flag switches between console + in-app logging and real email. Same code path — one variable decides delivery.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536192"/>
            <a:ext cx="3410712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1536192"/>
            <a:ext cx="3410712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1792224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DURABILITY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048256"/>
            <a:ext cx="29535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Persisted &amp; de-duplicated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596896"/>
            <a:ext cx="2935224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Every message is written to a notifications table in PostgreSQL. The trail survives restarts, and a milestone is never sent twice.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49039"/>
            <a:ext cx="3410712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49039"/>
            <a:ext cx="3410712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00507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261104"/>
            <a:ext cx="29535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Secure by construction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809744"/>
            <a:ext cx="2935224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Bodies are HTML-escaped to prevent injection, recipients are resolved from RBAC roles, and SMTP secrets stay in a git-ignored .env file.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3749039"/>
            <a:ext cx="3410712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3749039"/>
            <a:ext cx="3410712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400507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VISIBILITY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4261104"/>
            <a:ext cx="29535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In-app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4809744"/>
            <a:ext cx="2935224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Every email also appears in the complaint’s Emails tab, grouped per complaint — a full record of who was told what, and when.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60" y="3749039"/>
            <a:ext cx="3410712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09560" y="3749039"/>
            <a:ext cx="3410712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5592" y="400507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AUTOMATION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4261104"/>
            <a:ext cx="29535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2A40"/>
                </a:solidFill>
                <a:latin typeface="Segoe UI Semibold"/>
              </a:rPr>
              <a:t>SLA-driven alerts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4809744"/>
            <a:ext cx="2935224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The SLA engine emails the supervisor automatically the moment a stage breaches its deadline, so nothing stalls unseen.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912F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A complete, governed, SAP-ready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complaint management platform.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944368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D5DEE5"/>
                </a:solidFill>
                <a:latin typeface="Segoe UI"/>
              </a:rPr>
              <a:t>Full 8-stage lifecycle with automated approval gates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447288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D5DEE5"/>
                </a:solidFill>
                <a:latin typeface="Segoe UI"/>
              </a:rPr>
              <a:t>Live SAP S/4HANA integration across 6 touchpoints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950208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8862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D5DEE5"/>
                </a:solidFill>
                <a:latin typeface="Segoe UI"/>
              </a:rPr>
              <a:t>Role-based access with an immutable, verified audit trail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453128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389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D5DEE5"/>
                </a:solidFill>
                <a:latin typeface="Segoe UI"/>
              </a:rPr>
              <a:t>Verified end-to-end — 32 tests plus a live run to closure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57800"/>
            <a:ext cx="3840480" cy="18288"/>
          </a:xfrm>
          <a:prstGeom prst="rect">
            <a:avLst/>
          </a:prstGeom>
          <a:solidFill>
            <a:srgbClr val="3A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Thank you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B9C7D2"/>
                </a:solidFill>
                <a:latin typeface="Segoe UI"/>
              </a:rPr>
              <a:t>Keshav Raj Jain   ·   Orient Paper &amp; Mill — CCMS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0"/>
            <a:ext cx="2681935" cy="6858000"/>
          </a:xfrm>
          <a:prstGeom prst="rect">
            <a:avLst/>
          </a:prstGeom>
          <a:solidFill>
            <a:srgbClr val="1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0"/>
            <a:ext cx="54864" cy="6858000"/>
          </a:xfrm>
          <a:prstGeom prst="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2286000"/>
            <a:ext cx="219456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Q &amp;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912F"/>
                </a:solidFill>
                <a:latin typeface="Segoe UI"/>
              </a:rPr>
              <a:t>Questions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912F"/>
                </a:solidFill>
                <a:latin typeface="Segoe UI"/>
              </a:rPr>
              <a:t>welcome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912F"/>
                </a:solidFill>
                <a:latin typeface="Segoe UI"/>
              </a:rPr>
              <a:t>09 ·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Deployed live on the internet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9C7D2"/>
                </a:solidFill>
                <a:latin typeface="Segoe UI"/>
              </a:rPr>
              <a:t>Customer Complaint Management System  ·  Orient Paper &amp; Mill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0912F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609344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463040"/>
            <a:ext cx="104241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2530"/>
                </a:solidFill>
                <a:latin typeface="Segoe UI"/>
              </a:rPr>
              <a:t>Live at  </a:t>
            </a:r>
            <a:r>
              <a:rPr sz="1400" b="1">
                <a:solidFill>
                  <a:srgbClr val="112A40"/>
                </a:solidFill>
                <a:latin typeface="Segoe UI Semibold"/>
              </a:rPr>
              <a:t>https://ccms-6dut.onrender.com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6B78"/>
                </a:solidFill>
                <a:latin typeface="Segoe UI"/>
              </a:rPr>
              <a:t>Deployed as a single web service on managed PostgreSQL, with production security enabled.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5440680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5440680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52344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0837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2A40"/>
                </a:solidFill>
                <a:latin typeface="Segoe UI Semibold"/>
              </a:rPr>
              <a:t>One service, one origin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10712"/>
            <a:ext cx="493776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The Express API also serves the SPA — a single origin, so no CORS or cross-domain cookie config. Simpler and more secure.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2514600"/>
            <a:ext cx="5440680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2514600"/>
            <a:ext cx="5440680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2752344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00837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2A40"/>
                </a:solidFill>
                <a:latin typeface="Segoe UI Semibold"/>
              </a:rPr>
              <a:t>Managed Postgres, TLS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410712"/>
            <a:ext cx="493776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A single DATABASE_URL with automatic TLS runs on Render, Neon, Railway, Supabase or RDS — zero code change from local dev.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5440680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43400"/>
            <a:ext cx="5440680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81144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HARDENED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3717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2A40"/>
                </a:solidFill>
                <a:latin typeface="Segoe UI Semibold"/>
              </a:rPr>
              <a:t>Production-ready by default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39512"/>
            <a:ext cx="493776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Secure cookies, HSTS, HTTPS-only, a boot check that refuses a weak JWT secret, and one-time rotation of every seeded password.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4343400"/>
            <a:ext cx="5440680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54496" y="4343400"/>
            <a:ext cx="5440680" cy="91440"/>
          </a:xfrm>
          <a:prstGeom prst="rect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581144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912F"/>
                </a:solidFill>
                <a:latin typeface="Segoe UI"/>
              </a:rPr>
              <a:t>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483717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2A40"/>
                </a:solidFill>
                <a:latin typeface="Segoe UI Semibold"/>
              </a:rPr>
              <a:t>Real inbox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5239512"/>
            <a:ext cx="493776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A6B78"/>
                </a:solidFill>
                <a:latin typeface="Segoe UI"/>
              </a:rPr>
              <a:t>Customer and staff notifications go out over SMTP (Gmail / Brevo / any relay) and are mirrored to the in-app Emails trail.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